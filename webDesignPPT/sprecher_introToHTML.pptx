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1.jp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4019550"/>
            <a:ext cx="190500" cy="190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975" y="0"/>
            <a:ext cx="1335881" cy="27051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75" y="9525"/>
            <a:ext cx="238125" cy="10858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25"/>
            <a:ext cx="523875" cy="46672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1975" y="5476875"/>
            <a:ext cx="514350" cy="13811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5325" y="9525"/>
            <a:ext cx="390525" cy="173355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4886325"/>
            <a:ext cx="447675" cy="19526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0075" y="9525"/>
            <a:ext cx="809625" cy="401955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23975" y="4867275"/>
            <a:ext cx="974153" cy="1990725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4825" y="9525"/>
            <a:ext cx="838200" cy="683895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23950" y="4019550"/>
            <a:ext cx="190500" cy="19050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2975" y="0"/>
            <a:ext cx="1335881" cy="270510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6775" y="9525"/>
            <a:ext cx="238125" cy="108585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0" y="9525"/>
            <a:ext cx="523875" cy="466725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1975" y="5476875"/>
            <a:ext cx="514350" cy="138112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95325" y="9525"/>
            <a:ext cx="390525" cy="173355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0" y="4886325"/>
            <a:ext cx="447675" cy="1952625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00075" y="9525"/>
            <a:ext cx="809625" cy="401955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23975" y="4867275"/>
            <a:ext cx="974153" cy="199072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4825" y="9525"/>
            <a:ext cx="838200" cy="683895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56816" y="2692399"/>
            <a:ext cx="4002404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4486275"/>
            <a:ext cx="238125" cy="2362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9075" y="4867275"/>
            <a:ext cx="983240" cy="19907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70703" y="0"/>
            <a:ext cx="535546" cy="62865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39525" y="4867275"/>
            <a:ext cx="390525" cy="1981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105" y="1023238"/>
            <a:ext cx="317182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384790" y="5934981"/>
            <a:ext cx="1301750" cy="274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1.jp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1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1.jp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10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1.jp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5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 spc="-500"/>
              <a:t>INTRO</a:t>
            </a:r>
            <a:r>
              <a:rPr dirty="0" sz="4800" spc="-20"/>
              <a:t> </a:t>
            </a:r>
            <a:r>
              <a:rPr dirty="0" sz="4800" spc="-525"/>
              <a:t>TO</a:t>
            </a:r>
            <a:r>
              <a:rPr dirty="0" sz="4800" spc="-15"/>
              <a:t> </a:t>
            </a:r>
            <a:r>
              <a:rPr dirty="0" sz="4800" spc="-675"/>
              <a:t>HTML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956816" y="3659187"/>
            <a:ext cx="163957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25">
                <a:solidFill>
                  <a:srgbClr val="82FFFF"/>
                </a:solidFill>
                <a:latin typeface="Arial"/>
                <a:cs typeface="Arial"/>
              </a:rPr>
              <a:t>LUKE</a:t>
            </a:r>
            <a:r>
              <a:rPr dirty="0" sz="2000" spc="-5">
                <a:solidFill>
                  <a:srgbClr val="82FFFF"/>
                </a:solidFill>
                <a:latin typeface="Arial"/>
                <a:cs typeface="Arial"/>
              </a:rPr>
              <a:t> </a:t>
            </a:r>
            <a:r>
              <a:rPr dirty="0" sz="2000" spc="-390">
                <a:solidFill>
                  <a:srgbClr val="82FFFF"/>
                </a:solidFill>
                <a:latin typeface="Arial"/>
                <a:cs typeface="Arial"/>
              </a:rPr>
              <a:t>SPRECHER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48550" y="733361"/>
            <a:ext cx="4043679" cy="5453380"/>
            <a:chOff x="7448550" y="733361"/>
            <a:chExt cx="4043679" cy="5453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8550" y="733361"/>
              <a:ext cx="4043426" cy="54531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62850" y="809624"/>
              <a:ext cx="3819525" cy="5229225"/>
            </a:xfrm>
            <a:custGeom>
              <a:avLst/>
              <a:gdLst/>
              <a:ahLst/>
              <a:cxnLst/>
              <a:rect l="l" t="t" r="r" b="b"/>
              <a:pathLst>
                <a:path w="3819525" h="5229225">
                  <a:moveTo>
                    <a:pt x="3819525" y="0"/>
                  </a:moveTo>
                  <a:lnTo>
                    <a:pt x="432434" y="0"/>
                  </a:lnTo>
                  <a:lnTo>
                    <a:pt x="385328" y="2538"/>
                  </a:lnTo>
                  <a:lnTo>
                    <a:pt x="339687" y="9977"/>
                  </a:lnTo>
                  <a:lnTo>
                    <a:pt x="295777" y="22052"/>
                  </a:lnTo>
                  <a:lnTo>
                    <a:pt x="253862" y="38499"/>
                  </a:lnTo>
                  <a:lnTo>
                    <a:pt x="214206" y="59055"/>
                  </a:lnTo>
                  <a:lnTo>
                    <a:pt x="177073" y="83454"/>
                  </a:lnTo>
                  <a:lnTo>
                    <a:pt x="142727" y="111433"/>
                  </a:lnTo>
                  <a:lnTo>
                    <a:pt x="111433" y="142727"/>
                  </a:lnTo>
                  <a:lnTo>
                    <a:pt x="83454" y="177073"/>
                  </a:lnTo>
                  <a:lnTo>
                    <a:pt x="59054" y="214206"/>
                  </a:lnTo>
                  <a:lnTo>
                    <a:pt x="38499" y="253862"/>
                  </a:lnTo>
                  <a:lnTo>
                    <a:pt x="22052" y="295777"/>
                  </a:lnTo>
                  <a:lnTo>
                    <a:pt x="9977" y="339687"/>
                  </a:lnTo>
                  <a:lnTo>
                    <a:pt x="2538" y="385328"/>
                  </a:lnTo>
                  <a:lnTo>
                    <a:pt x="0" y="432435"/>
                  </a:lnTo>
                  <a:lnTo>
                    <a:pt x="0" y="5229225"/>
                  </a:lnTo>
                  <a:lnTo>
                    <a:pt x="3387090" y="5229225"/>
                  </a:lnTo>
                  <a:lnTo>
                    <a:pt x="3434196" y="5226687"/>
                  </a:lnTo>
                  <a:lnTo>
                    <a:pt x="3479837" y="5219249"/>
                  </a:lnTo>
                  <a:lnTo>
                    <a:pt x="3523747" y="5207175"/>
                  </a:lnTo>
                  <a:lnTo>
                    <a:pt x="3565662" y="5190730"/>
                  </a:lnTo>
                  <a:lnTo>
                    <a:pt x="3605318" y="5170176"/>
                  </a:lnTo>
                  <a:lnTo>
                    <a:pt x="3642451" y="5145778"/>
                  </a:lnTo>
                  <a:lnTo>
                    <a:pt x="3676797" y="5117799"/>
                  </a:lnTo>
                  <a:lnTo>
                    <a:pt x="3708091" y="5086504"/>
                  </a:lnTo>
                  <a:lnTo>
                    <a:pt x="3736070" y="5052156"/>
                  </a:lnTo>
                  <a:lnTo>
                    <a:pt x="3760470" y="5015020"/>
                  </a:lnTo>
                  <a:lnTo>
                    <a:pt x="3781025" y="4975358"/>
                  </a:lnTo>
                  <a:lnTo>
                    <a:pt x="3797472" y="4933435"/>
                  </a:lnTo>
                  <a:lnTo>
                    <a:pt x="3809547" y="4889515"/>
                  </a:lnTo>
                  <a:lnTo>
                    <a:pt x="3816986" y="4843862"/>
                  </a:lnTo>
                  <a:lnTo>
                    <a:pt x="3819525" y="4796739"/>
                  </a:lnTo>
                  <a:lnTo>
                    <a:pt x="3819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62850" y="809624"/>
              <a:ext cx="3819525" cy="5229225"/>
            </a:xfrm>
            <a:custGeom>
              <a:avLst/>
              <a:gdLst/>
              <a:ahLst/>
              <a:cxnLst/>
              <a:rect l="l" t="t" r="r" b="b"/>
              <a:pathLst>
                <a:path w="3819525" h="5229225">
                  <a:moveTo>
                    <a:pt x="432434" y="0"/>
                  </a:moveTo>
                  <a:lnTo>
                    <a:pt x="3819525" y="0"/>
                  </a:lnTo>
                  <a:lnTo>
                    <a:pt x="3819525" y="4796739"/>
                  </a:lnTo>
                  <a:lnTo>
                    <a:pt x="3816986" y="4843862"/>
                  </a:lnTo>
                  <a:lnTo>
                    <a:pt x="3809547" y="4889515"/>
                  </a:lnTo>
                  <a:lnTo>
                    <a:pt x="3797472" y="4933435"/>
                  </a:lnTo>
                  <a:lnTo>
                    <a:pt x="3781025" y="4975358"/>
                  </a:lnTo>
                  <a:lnTo>
                    <a:pt x="3760470" y="5015020"/>
                  </a:lnTo>
                  <a:lnTo>
                    <a:pt x="3736070" y="5052156"/>
                  </a:lnTo>
                  <a:lnTo>
                    <a:pt x="3708091" y="5086504"/>
                  </a:lnTo>
                  <a:lnTo>
                    <a:pt x="3676797" y="5117799"/>
                  </a:lnTo>
                  <a:lnTo>
                    <a:pt x="3642451" y="5145778"/>
                  </a:lnTo>
                  <a:lnTo>
                    <a:pt x="3605318" y="5170176"/>
                  </a:lnTo>
                  <a:lnTo>
                    <a:pt x="3565662" y="5190730"/>
                  </a:lnTo>
                  <a:lnTo>
                    <a:pt x="3523747" y="5207175"/>
                  </a:lnTo>
                  <a:lnTo>
                    <a:pt x="3479837" y="5219249"/>
                  </a:lnTo>
                  <a:lnTo>
                    <a:pt x="3434196" y="5226687"/>
                  </a:lnTo>
                  <a:lnTo>
                    <a:pt x="3387090" y="5229225"/>
                  </a:lnTo>
                  <a:lnTo>
                    <a:pt x="0" y="5229225"/>
                  </a:lnTo>
                  <a:lnTo>
                    <a:pt x="0" y="432435"/>
                  </a:lnTo>
                  <a:lnTo>
                    <a:pt x="2538" y="385328"/>
                  </a:lnTo>
                  <a:lnTo>
                    <a:pt x="9977" y="339687"/>
                  </a:lnTo>
                  <a:lnTo>
                    <a:pt x="22052" y="295777"/>
                  </a:lnTo>
                  <a:lnTo>
                    <a:pt x="38499" y="253862"/>
                  </a:lnTo>
                  <a:lnTo>
                    <a:pt x="59054" y="214206"/>
                  </a:lnTo>
                  <a:lnTo>
                    <a:pt x="83454" y="177073"/>
                  </a:lnTo>
                  <a:lnTo>
                    <a:pt x="111433" y="142727"/>
                  </a:lnTo>
                  <a:lnTo>
                    <a:pt x="142727" y="111433"/>
                  </a:lnTo>
                  <a:lnTo>
                    <a:pt x="177073" y="83454"/>
                  </a:lnTo>
                  <a:lnTo>
                    <a:pt x="214206" y="59055"/>
                  </a:lnTo>
                  <a:lnTo>
                    <a:pt x="253862" y="38499"/>
                  </a:lnTo>
                  <a:lnTo>
                    <a:pt x="295777" y="22052"/>
                  </a:lnTo>
                  <a:lnTo>
                    <a:pt x="339687" y="9977"/>
                  </a:lnTo>
                  <a:lnTo>
                    <a:pt x="385328" y="2538"/>
                  </a:lnTo>
                  <a:lnTo>
                    <a:pt x="432434" y="0"/>
                  </a:lnTo>
                  <a:close/>
                </a:path>
              </a:pathLst>
            </a:custGeom>
            <a:ln w="19050">
              <a:solidFill>
                <a:srgbClr val="3C96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HTML 5 Logo 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6700" y="1181100"/>
              <a:ext cx="3171825" cy="4486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20"/>
              <a:t>WHAT</a:t>
            </a:r>
            <a:r>
              <a:rPr dirty="0" spc="-25"/>
              <a:t> </a:t>
            </a:r>
            <a:r>
              <a:rPr dirty="0" spc="-430"/>
              <a:t>IS</a:t>
            </a:r>
            <a:r>
              <a:rPr dirty="0" spc="5"/>
              <a:t> </a:t>
            </a:r>
            <a:r>
              <a:rPr dirty="0" spc="-530"/>
              <a:t>HTML?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9175" y="2914523"/>
            <a:ext cx="4929505" cy="2291080"/>
            <a:chOff x="1019175" y="2914523"/>
            <a:chExt cx="4929505" cy="2291080"/>
          </a:xfrm>
        </p:grpSpPr>
        <p:pic>
          <p:nvPicPr>
            <p:cNvPr id="4" name="object 4" descr="A computer screen with HTML running on i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75" y="2914523"/>
              <a:ext cx="4929251" cy="2290826"/>
            </a:xfrm>
            <a:prstGeom prst="rect">
              <a:avLst/>
            </a:prstGeom>
          </p:spPr>
        </p:pic>
        <p:pic>
          <p:nvPicPr>
            <p:cNvPr id="5" name="object 5" descr="A computer screen with HTML running on i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0" y="3000375"/>
              <a:ext cx="4686300" cy="20478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3475" y="2989834"/>
              <a:ext cx="4705350" cy="2068195"/>
            </a:xfrm>
            <a:custGeom>
              <a:avLst/>
              <a:gdLst/>
              <a:ahLst/>
              <a:cxnLst/>
              <a:rect l="l" t="t" r="r" b="b"/>
              <a:pathLst>
                <a:path w="4705350" h="2068195">
                  <a:moveTo>
                    <a:pt x="133896" y="0"/>
                  </a:moveTo>
                  <a:lnTo>
                    <a:pt x="133896" y="1015"/>
                  </a:lnTo>
                  <a:lnTo>
                    <a:pt x="4705350" y="1015"/>
                  </a:lnTo>
                  <a:lnTo>
                    <a:pt x="4705350" y="1943989"/>
                  </a:lnTo>
                  <a:lnTo>
                    <a:pt x="4695571" y="1991995"/>
                  </a:lnTo>
                  <a:lnTo>
                    <a:pt x="4668901" y="2031491"/>
                  </a:lnTo>
                  <a:lnTo>
                    <a:pt x="4629404" y="2058161"/>
                  </a:lnTo>
                  <a:lnTo>
                    <a:pt x="4581398" y="2067940"/>
                  </a:lnTo>
                  <a:lnTo>
                    <a:pt x="0" y="2067940"/>
                  </a:lnTo>
                  <a:lnTo>
                    <a:pt x="0" y="124967"/>
                  </a:lnTo>
                  <a:lnTo>
                    <a:pt x="2476" y="100329"/>
                  </a:lnTo>
                  <a:lnTo>
                    <a:pt x="21209" y="55879"/>
                  </a:lnTo>
                  <a:lnTo>
                    <a:pt x="54813" y="22225"/>
                  </a:lnTo>
                  <a:lnTo>
                    <a:pt x="99313" y="3555"/>
                  </a:lnTo>
                  <a:lnTo>
                    <a:pt x="133896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20484" y="2245090"/>
            <a:ext cx="4352925" cy="3498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marR="5080" indent="-228600">
              <a:lnSpc>
                <a:spcPct val="122300"/>
              </a:lnSpc>
              <a:spcBef>
                <a:spcPts val="95"/>
              </a:spcBef>
              <a:buSzPct val="127906"/>
              <a:buChar char="•"/>
              <a:tabLst>
                <a:tab pos="240665" algn="l"/>
              </a:tabLst>
            </a:pPr>
            <a:r>
              <a:rPr dirty="0" sz="2150" spc="-27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21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(Hypertext</a:t>
            </a:r>
            <a:r>
              <a:rPr dirty="0" sz="215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Markup 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Language) </a:t>
            </a:r>
            <a:r>
              <a:rPr dirty="0" sz="2150" spc="-14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15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FFFFFF"/>
                </a:solidFill>
                <a:latin typeface="Arial"/>
                <a:cs typeface="Arial"/>
              </a:rPr>
              <a:t>coding</a:t>
            </a:r>
            <a:r>
              <a:rPr dirty="0" sz="21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75">
                <a:solidFill>
                  <a:srgbClr val="FFFFFF"/>
                </a:solidFill>
                <a:latin typeface="Arial"/>
                <a:cs typeface="Arial"/>
              </a:rPr>
              <a:t>language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4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FFFFFF"/>
                </a:solidFill>
                <a:latin typeface="Arial"/>
                <a:cs typeface="Arial"/>
              </a:rPr>
              <a:t>gives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website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7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FFFFFF"/>
                </a:solidFill>
                <a:latin typeface="Arial"/>
                <a:cs typeface="Arial"/>
              </a:rPr>
              <a:t>structure.</a:t>
            </a:r>
            <a:endParaRPr sz="2150">
              <a:latin typeface="Arial"/>
              <a:cs typeface="Arial"/>
            </a:endParaRPr>
          </a:p>
          <a:p>
            <a:pPr marL="240665" marR="72390" indent="-228600">
              <a:lnSpc>
                <a:spcPct val="122300"/>
              </a:lnSpc>
              <a:spcBef>
                <a:spcPts val="1050"/>
              </a:spcBef>
              <a:buSzPct val="127906"/>
              <a:buChar char="•"/>
              <a:tabLst>
                <a:tab pos="240665" algn="l"/>
              </a:tabLst>
            </a:pP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215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70">
                <a:solidFill>
                  <a:srgbClr val="FFFFFF"/>
                </a:solidFill>
                <a:latin typeface="Arial"/>
                <a:cs typeface="Arial"/>
              </a:rPr>
              <a:t>uses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60">
                <a:solidFill>
                  <a:srgbClr val="FFFFFF"/>
                </a:solidFill>
                <a:latin typeface="Arial"/>
                <a:cs typeface="Arial"/>
              </a:rPr>
              <a:t>tags</a:t>
            </a:r>
            <a:r>
              <a:rPr dirty="0" sz="215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FFFFFF"/>
                </a:solidFill>
                <a:latin typeface="Arial"/>
                <a:cs typeface="Arial"/>
              </a:rPr>
              <a:t>define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21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54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dirty="0" sz="2150" spc="-120">
                <a:solidFill>
                  <a:srgbClr val="FFFFFF"/>
                </a:solidFill>
                <a:latin typeface="Arial"/>
                <a:cs typeface="Arial"/>
              </a:rPr>
              <a:t>headings,</a:t>
            </a:r>
            <a:r>
              <a:rPr dirty="0" sz="21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paragraphs,</a:t>
            </a:r>
            <a:r>
              <a:rPr dirty="0" sz="215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images.</a:t>
            </a:r>
            <a:endParaRPr sz="2150">
              <a:latin typeface="Arial"/>
              <a:cs typeface="Arial"/>
            </a:endParaRPr>
          </a:p>
          <a:p>
            <a:pPr marL="240665" marR="172720" indent="-228600">
              <a:lnSpc>
                <a:spcPct val="122300"/>
              </a:lnSpc>
              <a:spcBef>
                <a:spcPts val="1050"/>
              </a:spcBef>
              <a:buSzPct val="127906"/>
              <a:buChar char="•"/>
              <a:tabLst>
                <a:tab pos="240665" algn="l"/>
              </a:tabLst>
            </a:pPr>
            <a:r>
              <a:rPr dirty="0" sz="2150" spc="-275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21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0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invented</a:t>
            </a: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45">
                <a:solidFill>
                  <a:srgbClr val="FFFFFF"/>
                </a:solidFill>
                <a:latin typeface="Arial"/>
                <a:cs typeface="Arial"/>
              </a:rPr>
              <a:t>Tim</a:t>
            </a:r>
            <a:r>
              <a:rPr dirty="0" sz="21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FFFFFF"/>
                </a:solidFill>
                <a:latin typeface="Arial"/>
                <a:cs typeface="Arial"/>
              </a:rPr>
              <a:t>Berners-</a:t>
            </a:r>
            <a:r>
              <a:rPr dirty="0" sz="2150" spc="-200">
                <a:solidFill>
                  <a:srgbClr val="FFFFFF"/>
                </a:solidFill>
                <a:latin typeface="Arial"/>
                <a:cs typeface="Arial"/>
              </a:rPr>
              <a:t>Lee</a:t>
            </a:r>
            <a:r>
              <a:rPr dirty="0" sz="21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1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1989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1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fundamental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dirty="0" sz="21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1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9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1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dirty="0" sz="21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Wide</a:t>
            </a:r>
            <a:r>
              <a:rPr dirty="0" sz="21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Web.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4867275"/>
              <a:ext cx="983240" cy="199072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70703" y="0"/>
            <a:ext cx="535546" cy="6286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75" y="0"/>
              <a:ext cx="1164431" cy="23717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25" y="3552825"/>
              <a:ext cx="228600" cy="6572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287" y="1435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1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4486275"/>
              <a:ext cx="257175" cy="2362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125" y="4867275"/>
              <a:ext cx="974147" cy="19907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36907" y="0"/>
              <a:ext cx="526466" cy="6286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91900" y="5553075"/>
              <a:ext cx="514350" cy="1295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96675" y="9525"/>
              <a:ext cx="381000" cy="17240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06175" y="4867275"/>
              <a:ext cx="381000" cy="1981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8121015" y="1599564"/>
            <a:ext cx="301244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HOW</a:t>
            </a:r>
            <a:r>
              <a:rPr dirty="0" sz="2750" spc="-195"/>
              <a:t> </a:t>
            </a:r>
            <a:r>
              <a:rPr dirty="0" sz="2750" spc="-340"/>
              <a:t>HTML</a:t>
            </a:r>
            <a:r>
              <a:rPr dirty="0" sz="2750" spc="45"/>
              <a:t> </a:t>
            </a:r>
            <a:r>
              <a:rPr dirty="0" sz="2750" spc="-280"/>
              <a:t>WORKS</a:t>
            </a:r>
            <a:endParaRPr sz="2750"/>
          </a:p>
        </p:txBody>
      </p:sp>
      <p:grpSp>
        <p:nvGrpSpPr>
          <p:cNvPr id="24" name="object 24"/>
          <p:cNvGrpSpPr/>
          <p:nvPr/>
        </p:nvGrpSpPr>
        <p:grpSpPr>
          <a:xfrm>
            <a:off x="685800" y="733361"/>
            <a:ext cx="6977380" cy="5453380"/>
            <a:chOff x="685800" y="733361"/>
            <a:chExt cx="6977380" cy="5453380"/>
          </a:xfrm>
        </p:grpSpPr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5800" y="733361"/>
              <a:ext cx="6977126" cy="545312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0100" y="809624"/>
              <a:ext cx="6753225" cy="5229225"/>
            </a:xfrm>
            <a:custGeom>
              <a:avLst/>
              <a:gdLst/>
              <a:ahLst/>
              <a:cxnLst/>
              <a:rect l="l" t="t" r="r" b="b"/>
              <a:pathLst>
                <a:path w="6753225" h="5229225">
                  <a:moveTo>
                    <a:pt x="6753225" y="0"/>
                  </a:moveTo>
                  <a:lnTo>
                    <a:pt x="387908" y="0"/>
                  </a:lnTo>
                  <a:lnTo>
                    <a:pt x="339250" y="3021"/>
                  </a:lnTo>
                  <a:lnTo>
                    <a:pt x="292395" y="11843"/>
                  </a:lnTo>
                  <a:lnTo>
                    <a:pt x="247707" y="26102"/>
                  </a:lnTo>
                  <a:lnTo>
                    <a:pt x="205550" y="45435"/>
                  </a:lnTo>
                  <a:lnTo>
                    <a:pt x="166288" y="69480"/>
                  </a:lnTo>
                  <a:lnTo>
                    <a:pt x="130283" y="97872"/>
                  </a:lnTo>
                  <a:lnTo>
                    <a:pt x="97899" y="130249"/>
                  </a:lnTo>
                  <a:lnTo>
                    <a:pt x="69500" y="166248"/>
                  </a:lnTo>
                  <a:lnTo>
                    <a:pt x="45449" y="205505"/>
                  </a:lnTo>
                  <a:lnTo>
                    <a:pt x="26110" y="247658"/>
                  </a:lnTo>
                  <a:lnTo>
                    <a:pt x="11847" y="292343"/>
                  </a:lnTo>
                  <a:lnTo>
                    <a:pt x="3022" y="339197"/>
                  </a:lnTo>
                  <a:lnTo>
                    <a:pt x="0" y="387858"/>
                  </a:lnTo>
                  <a:lnTo>
                    <a:pt x="0" y="5229225"/>
                  </a:lnTo>
                  <a:lnTo>
                    <a:pt x="6365367" y="5229225"/>
                  </a:lnTo>
                  <a:lnTo>
                    <a:pt x="6414027" y="5226202"/>
                  </a:lnTo>
                  <a:lnTo>
                    <a:pt x="6460881" y="5217377"/>
                  </a:lnTo>
                  <a:lnTo>
                    <a:pt x="6505566" y="5203114"/>
                  </a:lnTo>
                  <a:lnTo>
                    <a:pt x="6547719" y="5183775"/>
                  </a:lnTo>
                  <a:lnTo>
                    <a:pt x="6586976" y="5159724"/>
                  </a:lnTo>
                  <a:lnTo>
                    <a:pt x="6622975" y="5131325"/>
                  </a:lnTo>
                  <a:lnTo>
                    <a:pt x="6655352" y="5098941"/>
                  </a:lnTo>
                  <a:lnTo>
                    <a:pt x="6683744" y="5062936"/>
                  </a:lnTo>
                  <a:lnTo>
                    <a:pt x="6707789" y="5023674"/>
                  </a:lnTo>
                  <a:lnTo>
                    <a:pt x="6727122" y="4981517"/>
                  </a:lnTo>
                  <a:lnTo>
                    <a:pt x="6741381" y="4936829"/>
                  </a:lnTo>
                  <a:lnTo>
                    <a:pt x="6750203" y="4889974"/>
                  </a:lnTo>
                  <a:lnTo>
                    <a:pt x="6753225" y="4841316"/>
                  </a:lnTo>
                  <a:lnTo>
                    <a:pt x="6753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0100" y="809624"/>
              <a:ext cx="6753225" cy="5229225"/>
            </a:xfrm>
            <a:custGeom>
              <a:avLst/>
              <a:gdLst/>
              <a:ahLst/>
              <a:cxnLst/>
              <a:rect l="l" t="t" r="r" b="b"/>
              <a:pathLst>
                <a:path w="6753225" h="5229225">
                  <a:moveTo>
                    <a:pt x="387908" y="0"/>
                  </a:moveTo>
                  <a:lnTo>
                    <a:pt x="6753225" y="0"/>
                  </a:lnTo>
                  <a:lnTo>
                    <a:pt x="6753225" y="4841316"/>
                  </a:lnTo>
                  <a:lnTo>
                    <a:pt x="6750203" y="4889974"/>
                  </a:lnTo>
                  <a:lnTo>
                    <a:pt x="6741381" y="4936829"/>
                  </a:lnTo>
                  <a:lnTo>
                    <a:pt x="6727122" y="4981517"/>
                  </a:lnTo>
                  <a:lnTo>
                    <a:pt x="6707789" y="5023674"/>
                  </a:lnTo>
                  <a:lnTo>
                    <a:pt x="6683744" y="5062936"/>
                  </a:lnTo>
                  <a:lnTo>
                    <a:pt x="6655352" y="5098941"/>
                  </a:lnTo>
                  <a:lnTo>
                    <a:pt x="6622975" y="5131325"/>
                  </a:lnTo>
                  <a:lnTo>
                    <a:pt x="6586976" y="5159724"/>
                  </a:lnTo>
                  <a:lnTo>
                    <a:pt x="6547719" y="5183775"/>
                  </a:lnTo>
                  <a:lnTo>
                    <a:pt x="6505566" y="5203114"/>
                  </a:lnTo>
                  <a:lnTo>
                    <a:pt x="6460881" y="5217377"/>
                  </a:lnTo>
                  <a:lnTo>
                    <a:pt x="6414027" y="5226202"/>
                  </a:lnTo>
                  <a:lnTo>
                    <a:pt x="6365367" y="5229225"/>
                  </a:lnTo>
                  <a:lnTo>
                    <a:pt x="0" y="5229225"/>
                  </a:lnTo>
                  <a:lnTo>
                    <a:pt x="0" y="387858"/>
                  </a:lnTo>
                  <a:lnTo>
                    <a:pt x="3022" y="339197"/>
                  </a:lnTo>
                  <a:lnTo>
                    <a:pt x="11847" y="292343"/>
                  </a:lnTo>
                  <a:lnTo>
                    <a:pt x="26110" y="247658"/>
                  </a:lnTo>
                  <a:lnTo>
                    <a:pt x="45449" y="205505"/>
                  </a:lnTo>
                  <a:lnTo>
                    <a:pt x="69500" y="166248"/>
                  </a:lnTo>
                  <a:lnTo>
                    <a:pt x="97899" y="130249"/>
                  </a:lnTo>
                  <a:lnTo>
                    <a:pt x="130283" y="97872"/>
                  </a:lnTo>
                  <a:lnTo>
                    <a:pt x="166288" y="69480"/>
                  </a:lnTo>
                  <a:lnTo>
                    <a:pt x="205550" y="45435"/>
                  </a:lnTo>
                  <a:lnTo>
                    <a:pt x="247707" y="26102"/>
                  </a:lnTo>
                  <a:lnTo>
                    <a:pt x="292395" y="11843"/>
                  </a:lnTo>
                  <a:lnTo>
                    <a:pt x="339250" y="3021"/>
                  </a:lnTo>
                  <a:lnTo>
                    <a:pt x="387908" y="0"/>
                  </a:lnTo>
                  <a:close/>
                </a:path>
              </a:pathLst>
            </a:custGeom>
            <a:ln w="19050">
              <a:solidFill>
                <a:srgbClr val="3C96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An anchor tag in HTML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14425" y="2657475"/>
              <a:ext cx="6115050" cy="153352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121015" y="2260981"/>
            <a:ext cx="3091815" cy="33356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marR="5080" indent="-229235">
              <a:lnSpc>
                <a:spcPct val="115100"/>
              </a:lnSpc>
              <a:spcBef>
                <a:spcPts val="95"/>
              </a:spcBef>
              <a:buSzPct val="132000"/>
              <a:buFont typeface="Arial"/>
              <a:buChar char="•"/>
              <a:tabLst>
                <a:tab pos="241300" algn="l"/>
              </a:tabLst>
            </a:pPr>
            <a:r>
              <a:rPr dirty="0" sz="1250" spc="-100" b="1">
                <a:solidFill>
                  <a:srgbClr val="FFFFFF"/>
                </a:solidFill>
                <a:latin typeface="Arial"/>
                <a:cs typeface="Arial"/>
              </a:rPr>
              <a:t>Tags:</a:t>
            </a:r>
            <a:r>
              <a:rPr dirty="0" sz="125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4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55">
                <a:solidFill>
                  <a:srgbClr val="FFFFFF"/>
                </a:solidFill>
                <a:latin typeface="Arial"/>
                <a:cs typeface="Arial"/>
              </a:rPr>
              <a:t>uses</a:t>
            </a:r>
            <a:r>
              <a:rPr dirty="0" sz="12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“markup”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2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annotate text,</a:t>
            </a:r>
            <a:r>
              <a:rPr dirty="0" sz="1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80">
                <a:solidFill>
                  <a:srgbClr val="FFFFFF"/>
                </a:solidFill>
                <a:latin typeface="Arial"/>
                <a:cs typeface="Arial"/>
              </a:rPr>
              <a:t>images</a:t>
            </a:r>
            <a:r>
              <a:rPr dirty="0" sz="12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25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2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8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25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display </a:t>
            </a:r>
            <a:r>
              <a:rPr dirty="0" sz="1250" spc="-5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dirty="0" sz="1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65">
                <a:solidFill>
                  <a:srgbClr val="FFFFFF"/>
                </a:solidFill>
                <a:latin typeface="Arial"/>
                <a:cs typeface="Arial"/>
              </a:rPr>
              <a:t>browser.</a:t>
            </a:r>
            <a:r>
              <a:rPr dirty="0" sz="12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0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dirty="0" sz="12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2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85">
                <a:solidFill>
                  <a:srgbClr val="FFFFFF"/>
                </a:solidFill>
                <a:latin typeface="Arial"/>
                <a:cs typeface="Arial"/>
              </a:rPr>
              <a:t>enclosed</a:t>
            </a:r>
            <a:r>
              <a:rPr dirty="0" sz="12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250" spc="-50">
                <a:solidFill>
                  <a:srgbClr val="FFFFFF"/>
                </a:solidFill>
                <a:latin typeface="Arial"/>
                <a:cs typeface="Arial"/>
              </a:rPr>
              <a:t>tags,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75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25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250" spc="-65">
                <a:solidFill>
                  <a:srgbClr val="FFFFFF"/>
                </a:solidFill>
                <a:latin typeface="Arial"/>
                <a:cs typeface="Arial"/>
              </a:rPr>
              <a:t>element</a:t>
            </a:r>
            <a:r>
              <a:rPr dirty="0" sz="12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95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dirty="0" sz="125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FFFFFF"/>
                </a:solidFill>
                <a:latin typeface="Arial"/>
                <a:cs typeface="Arial"/>
              </a:rPr>
              <a:t>surrounded </a:t>
            </a:r>
            <a:r>
              <a:rPr dirty="0" sz="1250" spc="-5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angle </a:t>
            </a:r>
            <a:r>
              <a:rPr dirty="0" sz="1250" spc="-50">
                <a:solidFill>
                  <a:srgbClr val="FFFFFF"/>
                </a:solidFill>
                <a:latin typeface="Arial"/>
                <a:cs typeface="Arial"/>
              </a:rPr>
              <a:t>brackets</a:t>
            </a:r>
            <a:r>
              <a:rPr dirty="0" sz="1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(ex.</a:t>
            </a:r>
            <a:r>
              <a:rPr dirty="0" sz="12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85">
                <a:solidFill>
                  <a:srgbClr val="FFFFFF"/>
                </a:solidFill>
                <a:latin typeface="Arial"/>
                <a:cs typeface="Arial"/>
              </a:rPr>
              <a:t>&lt;p&gt;</a:t>
            </a:r>
            <a:r>
              <a:rPr dirty="0" sz="12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2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paragraph).</a:t>
            </a:r>
            <a:endParaRPr sz="1250">
              <a:latin typeface="Arial"/>
              <a:cs typeface="Arial"/>
            </a:endParaRPr>
          </a:p>
          <a:p>
            <a:pPr marL="241300" marR="72390" indent="-229235">
              <a:lnSpc>
                <a:spcPct val="113500"/>
              </a:lnSpc>
              <a:spcBef>
                <a:spcPts val="1000"/>
              </a:spcBef>
              <a:buSzPct val="132000"/>
              <a:buFont typeface="Arial"/>
              <a:buChar char="•"/>
              <a:tabLst>
                <a:tab pos="241300" algn="l"/>
              </a:tabLst>
            </a:pPr>
            <a:r>
              <a:rPr dirty="0" sz="1250" spc="-110" b="1">
                <a:solidFill>
                  <a:srgbClr val="FFFFFF"/>
                </a:solidFill>
                <a:latin typeface="Arial"/>
                <a:cs typeface="Arial"/>
              </a:rPr>
              <a:t>Structure:</a:t>
            </a:r>
            <a:r>
              <a:rPr dirty="0" sz="125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3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tags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tell</a:t>
            </a:r>
            <a:r>
              <a:rPr dirty="0" sz="1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browser</a:t>
            </a:r>
            <a:r>
              <a:rPr dirty="0" sz="12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12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interpret</a:t>
            </a:r>
            <a:r>
              <a:rPr dirty="0" sz="125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25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Arial"/>
                <a:cs typeface="Arial"/>
              </a:rPr>
              <a:t>present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Arial"/>
                <a:cs typeface="Arial"/>
              </a:rPr>
              <a:t>content.</a:t>
            </a:r>
            <a:r>
              <a:rPr dirty="0" sz="12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dirty="0" sz="12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&lt;h1&gt;</a:t>
            </a:r>
            <a:r>
              <a:rPr dirty="0" sz="12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tag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14">
                <a:solidFill>
                  <a:srgbClr val="FFFFFF"/>
                </a:solidFill>
                <a:latin typeface="Arial"/>
                <a:cs typeface="Arial"/>
              </a:rPr>
              <a:t>means</a:t>
            </a:r>
            <a:r>
              <a:rPr dirty="0" sz="12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main </a:t>
            </a:r>
            <a:r>
              <a:rPr dirty="0" sz="1250" spc="-40">
                <a:solidFill>
                  <a:srgbClr val="FFFFFF"/>
                </a:solidFill>
                <a:latin typeface="Arial"/>
                <a:cs typeface="Arial"/>
              </a:rPr>
              <a:t>heading,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2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&lt;img&gt;</a:t>
            </a:r>
            <a:r>
              <a:rPr dirty="0" sz="125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85">
                <a:solidFill>
                  <a:srgbClr val="FFFFFF"/>
                </a:solidFill>
                <a:latin typeface="Arial"/>
                <a:cs typeface="Arial"/>
              </a:rPr>
              <a:t>embeds</a:t>
            </a:r>
            <a:r>
              <a:rPr dirty="0" sz="12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image.</a:t>
            </a:r>
            <a:endParaRPr sz="1250">
              <a:latin typeface="Arial"/>
              <a:cs typeface="Arial"/>
            </a:endParaRPr>
          </a:p>
          <a:p>
            <a:pPr marL="241300" marR="71755" indent="-229235">
              <a:lnSpc>
                <a:spcPct val="113500"/>
              </a:lnSpc>
              <a:spcBef>
                <a:spcPts val="1075"/>
              </a:spcBef>
              <a:buSzPct val="132000"/>
              <a:buFont typeface="Arial"/>
              <a:buChar char="•"/>
              <a:tabLst>
                <a:tab pos="241300" algn="l"/>
              </a:tabLst>
            </a:pPr>
            <a:r>
              <a:rPr dirty="0" sz="1250" spc="-105" b="1">
                <a:solidFill>
                  <a:srgbClr val="FFFFFF"/>
                </a:solidFill>
                <a:latin typeface="Arial"/>
                <a:cs typeface="Arial"/>
              </a:rPr>
              <a:t>Elements:</a:t>
            </a:r>
            <a:r>
              <a:rPr dirty="0" sz="125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4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12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90">
                <a:solidFill>
                  <a:srgbClr val="FFFFFF"/>
                </a:solidFill>
                <a:latin typeface="Arial"/>
                <a:cs typeface="Arial"/>
              </a:rPr>
              <a:t>elements</a:t>
            </a:r>
            <a:r>
              <a:rPr dirty="0" sz="12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2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building </a:t>
            </a:r>
            <a:r>
              <a:rPr dirty="0" sz="1250" spc="-70">
                <a:solidFill>
                  <a:srgbClr val="FFFFFF"/>
                </a:solidFill>
                <a:latin typeface="Arial"/>
                <a:cs typeface="Arial"/>
              </a:rPr>
              <a:t>blocks</a:t>
            </a:r>
            <a:r>
              <a:rPr dirty="0" sz="1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5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dirty="0" sz="12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often </a:t>
            </a:r>
            <a:r>
              <a:rPr dirty="0" sz="1250" spc="-70">
                <a:solidFill>
                  <a:srgbClr val="FFFFFF"/>
                </a:solidFill>
                <a:latin typeface="Arial"/>
                <a:cs typeface="Arial"/>
              </a:rPr>
              <a:t>nested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within</a:t>
            </a:r>
            <a:r>
              <a:rPr dirty="0" sz="1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2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2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create </a:t>
            </a:r>
            <a:r>
              <a:rPr dirty="0" sz="1250" spc="-60">
                <a:solidFill>
                  <a:srgbClr val="FFFFFF"/>
                </a:solidFill>
                <a:latin typeface="Arial"/>
                <a:cs typeface="Arial"/>
              </a:rPr>
              <a:t>structured</a:t>
            </a:r>
            <a:r>
              <a:rPr dirty="0" sz="12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order.</a:t>
            </a:r>
            <a:endParaRPr sz="125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85"/>
              <a:t>VISUAL</a:t>
            </a:r>
            <a:r>
              <a:rPr dirty="0" spc="-55"/>
              <a:t> </a:t>
            </a:r>
            <a:r>
              <a:rPr dirty="0" spc="-55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9175" y="2876550"/>
            <a:ext cx="4929505" cy="2367280"/>
            <a:chOff x="1019175" y="2876550"/>
            <a:chExt cx="4929505" cy="2367280"/>
          </a:xfrm>
        </p:grpSpPr>
        <p:pic>
          <p:nvPicPr>
            <p:cNvPr id="4" name="object 4" descr="HTML code for a webpage displaying:  Hello, World! This is a sample HTML document  Have a great day!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75" y="2876550"/>
              <a:ext cx="4929251" cy="2367026"/>
            </a:xfrm>
            <a:prstGeom prst="rect">
              <a:avLst/>
            </a:prstGeom>
          </p:spPr>
        </p:pic>
        <p:pic>
          <p:nvPicPr>
            <p:cNvPr id="5" name="object 5" descr="HTML code for a webpage displaying:  Hello, World! This is a sample HTML document  Have a great day!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0" y="2962275"/>
              <a:ext cx="4686173" cy="21240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3475" y="2951734"/>
              <a:ext cx="4705350" cy="2144395"/>
            </a:xfrm>
            <a:custGeom>
              <a:avLst/>
              <a:gdLst/>
              <a:ahLst/>
              <a:cxnLst/>
              <a:rect l="l" t="t" r="r" b="b"/>
              <a:pathLst>
                <a:path w="4705350" h="2144395">
                  <a:moveTo>
                    <a:pt x="138175" y="0"/>
                  </a:moveTo>
                  <a:lnTo>
                    <a:pt x="138175" y="1015"/>
                  </a:lnTo>
                  <a:lnTo>
                    <a:pt x="4705350" y="1015"/>
                  </a:lnTo>
                  <a:lnTo>
                    <a:pt x="4705350" y="2015997"/>
                  </a:lnTo>
                  <a:lnTo>
                    <a:pt x="4695317" y="2065527"/>
                  </a:lnTo>
                  <a:lnTo>
                    <a:pt x="4667758" y="2106548"/>
                  </a:lnTo>
                  <a:lnTo>
                    <a:pt x="4626737" y="2134108"/>
                  </a:lnTo>
                  <a:lnTo>
                    <a:pt x="4577207" y="2144141"/>
                  </a:lnTo>
                  <a:lnTo>
                    <a:pt x="0" y="2144141"/>
                  </a:lnTo>
                  <a:lnTo>
                    <a:pt x="0" y="129158"/>
                  </a:lnTo>
                  <a:lnTo>
                    <a:pt x="2565" y="103758"/>
                  </a:lnTo>
                  <a:lnTo>
                    <a:pt x="21932" y="57657"/>
                  </a:lnTo>
                  <a:lnTo>
                    <a:pt x="56692" y="22987"/>
                  </a:lnTo>
                  <a:lnTo>
                    <a:pt x="102730" y="3555"/>
                  </a:lnTo>
                  <a:lnTo>
                    <a:pt x="138175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20484" y="2241677"/>
            <a:ext cx="4382770" cy="33547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marR="176530" indent="-228600">
              <a:lnSpc>
                <a:spcPct val="120000"/>
              </a:lnSpc>
              <a:spcBef>
                <a:spcPts val="95"/>
              </a:spcBef>
              <a:buSzPct val="125000"/>
              <a:buChar char="•"/>
              <a:tabLst>
                <a:tab pos="240665" algn="l"/>
              </a:tabLst>
            </a:pPr>
            <a:r>
              <a:rPr dirty="0" sz="2400" spc="-285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3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4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400" spc="-33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code.</a:t>
            </a:r>
            <a:endParaRPr sz="2400">
              <a:latin typeface="Arial"/>
              <a:cs typeface="Arial"/>
            </a:endParaRPr>
          </a:p>
          <a:p>
            <a:pPr marL="240665" marR="5080" indent="-228600">
              <a:lnSpc>
                <a:spcPct val="120000"/>
              </a:lnSpc>
              <a:spcBef>
                <a:spcPts val="975"/>
              </a:spcBef>
              <a:buSzPct val="125000"/>
              <a:buChar char="•"/>
              <a:tabLst>
                <a:tab pos="240665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90">
                <a:solidFill>
                  <a:srgbClr val="FFFFFF"/>
                </a:solidFill>
                <a:latin typeface="Arial"/>
                <a:cs typeface="Arial"/>
              </a:rPr>
              <a:t>includes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starting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structure </a:t>
            </a:r>
            <a:r>
              <a:rPr dirty="0" sz="2400" spc="-245">
                <a:solidFill>
                  <a:srgbClr val="FFFFFF"/>
                </a:solidFill>
                <a:latin typeface="Arial"/>
                <a:cs typeface="Arial"/>
              </a:rPr>
              <a:t>(&lt;!DOCTYPE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html&gt;,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&lt;head&gt;,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&lt;body&gt;</a:t>
            </a:r>
            <a:r>
              <a:rPr dirty="0" sz="2400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tags.)</a:t>
            </a:r>
            <a:endParaRPr sz="2400">
              <a:latin typeface="Arial"/>
              <a:cs typeface="Arial"/>
            </a:endParaRPr>
          </a:p>
          <a:p>
            <a:pPr marL="240665" marR="720090" indent="-228600">
              <a:lnSpc>
                <a:spcPct val="120000"/>
              </a:lnSpc>
              <a:spcBef>
                <a:spcPts val="1045"/>
              </a:spcBef>
              <a:buSzPct val="125000"/>
              <a:buChar char="•"/>
              <a:tabLst>
                <a:tab pos="240665" algn="l"/>
              </a:tabLst>
            </a:pPr>
            <a:r>
              <a:rPr dirty="0" sz="2400" spc="-160">
                <a:solidFill>
                  <a:srgbClr val="FFFFFF"/>
                </a:solidFill>
                <a:latin typeface="Arial"/>
                <a:cs typeface="Arial"/>
              </a:rPr>
              <a:t>Defines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2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6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webpage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7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structured.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4867275"/>
              <a:ext cx="983240" cy="199072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70703" y="0"/>
            <a:ext cx="535546" cy="6286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75" y="0"/>
              <a:ext cx="1164431" cy="23717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25" y="3552825"/>
              <a:ext cx="228600" cy="6572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287" y="1435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1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4486275"/>
              <a:ext cx="257175" cy="2362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125" y="4867275"/>
              <a:ext cx="974147" cy="19907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36907" y="0"/>
              <a:ext cx="526466" cy="6286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91900" y="5553075"/>
              <a:ext cx="514350" cy="1295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96675" y="9525"/>
              <a:ext cx="381000" cy="17240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06175" y="4867275"/>
              <a:ext cx="381000" cy="1981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6653783" y="776224"/>
            <a:ext cx="3170555" cy="106172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640"/>
              </a:spcBef>
            </a:pPr>
            <a:r>
              <a:rPr dirty="0" spc="-385"/>
              <a:t>VISUAL</a:t>
            </a:r>
            <a:r>
              <a:rPr dirty="0" spc="-60"/>
              <a:t> </a:t>
            </a:r>
            <a:r>
              <a:rPr dirty="0" spc="-550"/>
              <a:t>EXAMPLE </a:t>
            </a:r>
            <a:r>
              <a:rPr dirty="0" spc="-370"/>
              <a:t>(CONTINUED)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685800" y="733361"/>
            <a:ext cx="5510530" cy="5453380"/>
            <a:chOff x="685800" y="733361"/>
            <a:chExt cx="5510530" cy="5453380"/>
          </a:xfrm>
        </p:grpSpPr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5800" y="733361"/>
              <a:ext cx="5510276" cy="545312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0100" y="809624"/>
              <a:ext cx="5286375" cy="5229225"/>
            </a:xfrm>
            <a:custGeom>
              <a:avLst/>
              <a:gdLst/>
              <a:ahLst/>
              <a:cxnLst/>
              <a:rect l="l" t="t" r="r" b="b"/>
              <a:pathLst>
                <a:path w="5286375" h="5229225">
                  <a:moveTo>
                    <a:pt x="5286375" y="0"/>
                  </a:moveTo>
                  <a:lnTo>
                    <a:pt x="387908" y="0"/>
                  </a:lnTo>
                  <a:lnTo>
                    <a:pt x="339250" y="3021"/>
                  </a:lnTo>
                  <a:lnTo>
                    <a:pt x="292395" y="11843"/>
                  </a:lnTo>
                  <a:lnTo>
                    <a:pt x="247707" y="26102"/>
                  </a:lnTo>
                  <a:lnTo>
                    <a:pt x="205550" y="45435"/>
                  </a:lnTo>
                  <a:lnTo>
                    <a:pt x="166288" y="69480"/>
                  </a:lnTo>
                  <a:lnTo>
                    <a:pt x="130283" y="97872"/>
                  </a:lnTo>
                  <a:lnTo>
                    <a:pt x="97899" y="130249"/>
                  </a:lnTo>
                  <a:lnTo>
                    <a:pt x="69500" y="166248"/>
                  </a:lnTo>
                  <a:lnTo>
                    <a:pt x="45449" y="205505"/>
                  </a:lnTo>
                  <a:lnTo>
                    <a:pt x="26110" y="247658"/>
                  </a:lnTo>
                  <a:lnTo>
                    <a:pt x="11847" y="292343"/>
                  </a:lnTo>
                  <a:lnTo>
                    <a:pt x="3022" y="339197"/>
                  </a:lnTo>
                  <a:lnTo>
                    <a:pt x="0" y="387858"/>
                  </a:lnTo>
                  <a:lnTo>
                    <a:pt x="0" y="5229225"/>
                  </a:lnTo>
                  <a:lnTo>
                    <a:pt x="4898517" y="5229225"/>
                  </a:lnTo>
                  <a:lnTo>
                    <a:pt x="4947177" y="5226202"/>
                  </a:lnTo>
                  <a:lnTo>
                    <a:pt x="4994031" y="5217377"/>
                  </a:lnTo>
                  <a:lnTo>
                    <a:pt x="5038716" y="5203114"/>
                  </a:lnTo>
                  <a:lnTo>
                    <a:pt x="5080869" y="5183775"/>
                  </a:lnTo>
                  <a:lnTo>
                    <a:pt x="5120126" y="5159724"/>
                  </a:lnTo>
                  <a:lnTo>
                    <a:pt x="5156125" y="5131325"/>
                  </a:lnTo>
                  <a:lnTo>
                    <a:pt x="5188502" y="5098941"/>
                  </a:lnTo>
                  <a:lnTo>
                    <a:pt x="5216894" y="5062936"/>
                  </a:lnTo>
                  <a:lnTo>
                    <a:pt x="5240939" y="5023674"/>
                  </a:lnTo>
                  <a:lnTo>
                    <a:pt x="5260272" y="4981517"/>
                  </a:lnTo>
                  <a:lnTo>
                    <a:pt x="5274531" y="4936829"/>
                  </a:lnTo>
                  <a:lnTo>
                    <a:pt x="5283353" y="4889974"/>
                  </a:lnTo>
                  <a:lnTo>
                    <a:pt x="5286375" y="4841316"/>
                  </a:lnTo>
                  <a:lnTo>
                    <a:pt x="528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0100" y="809624"/>
              <a:ext cx="5286375" cy="5229225"/>
            </a:xfrm>
            <a:custGeom>
              <a:avLst/>
              <a:gdLst/>
              <a:ahLst/>
              <a:cxnLst/>
              <a:rect l="l" t="t" r="r" b="b"/>
              <a:pathLst>
                <a:path w="5286375" h="5229225">
                  <a:moveTo>
                    <a:pt x="387908" y="0"/>
                  </a:moveTo>
                  <a:lnTo>
                    <a:pt x="5286375" y="0"/>
                  </a:lnTo>
                  <a:lnTo>
                    <a:pt x="5286375" y="4841316"/>
                  </a:lnTo>
                  <a:lnTo>
                    <a:pt x="5283353" y="4889974"/>
                  </a:lnTo>
                  <a:lnTo>
                    <a:pt x="5274531" y="4936829"/>
                  </a:lnTo>
                  <a:lnTo>
                    <a:pt x="5260272" y="4981517"/>
                  </a:lnTo>
                  <a:lnTo>
                    <a:pt x="5240939" y="5023674"/>
                  </a:lnTo>
                  <a:lnTo>
                    <a:pt x="5216894" y="5062936"/>
                  </a:lnTo>
                  <a:lnTo>
                    <a:pt x="5188502" y="5098941"/>
                  </a:lnTo>
                  <a:lnTo>
                    <a:pt x="5156125" y="5131325"/>
                  </a:lnTo>
                  <a:lnTo>
                    <a:pt x="5120126" y="5159724"/>
                  </a:lnTo>
                  <a:lnTo>
                    <a:pt x="5080869" y="5183775"/>
                  </a:lnTo>
                  <a:lnTo>
                    <a:pt x="5038716" y="5203114"/>
                  </a:lnTo>
                  <a:lnTo>
                    <a:pt x="4994031" y="5217377"/>
                  </a:lnTo>
                  <a:lnTo>
                    <a:pt x="4947177" y="5226202"/>
                  </a:lnTo>
                  <a:lnTo>
                    <a:pt x="4898517" y="5229225"/>
                  </a:lnTo>
                  <a:lnTo>
                    <a:pt x="0" y="5229225"/>
                  </a:lnTo>
                  <a:lnTo>
                    <a:pt x="0" y="387858"/>
                  </a:lnTo>
                  <a:lnTo>
                    <a:pt x="3022" y="339197"/>
                  </a:lnTo>
                  <a:lnTo>
                    <a:pt x="11847" y="292343"/>
                  </a:lnTo>
                  <a:lnTo>
                    <a:pt x="26110" y="247658"/>
                  </a:lnTo>
                  <a:lnTo>
                    <a:pt x="45449" y="205505"/>
                  </a:lnTo>
                  <a:lnTo>
                    <a:pt x="69500" y="166248"/>
                  </a:lnTo>
                  <a:lnTo>
                    <a:pt x="97899" y="130249"/>
                  </a:lnTo>
                  <a:lnTo>
                    <a:pt x="130283" y="97872"/>
                  </a:lnTo>
                  <a:lnTo>
                    <a:pt x="166288" y="69480"/>
                  </a:lnTo>
                  <a:lnTo>
                    <a:pt x="205550" y="45435"/>
                  </a:lnTo>
                  <a:lnTo>
                    <a:pt x="247707" y="26102"/>
                  </a:lnTo>
                  <a:lnTo>
                    <a:pt x="292395" y="11843"/>
                  </a:lnTo>
                  <a:lnTo>
                    <a:pt x="339250" y="3021"/>
                  </a:lnTo>
                  <a:lnTo>
                    <a:pt x="387908" y="0"/>
                  </a:lnTo>
                  <a:close/>
                </a:path>
              </a:pathLst>
            </a:custGeom>
            <a:ln w="19050">
              <a:solidFill>
                <a:srgbClr val="3C96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Webpage displaying the previous code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09700" y="1143000"/>
              <a:ext cx="4048125" cy="45720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653783" y="2241677"/>
            <a:ext cx="4425950" cy="291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95"/>
              </a:spcBef>
              <a:buSzPct val="125000"/>
              <a:buChar char="•"/>
              <a:tabLst>
                <a:tab pos="241300" algn="l"/>
              </a:tabLst>
            </a:pPr>
            <a:r>
              <a:rPr dirty="0" sz="2400" spc="-14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65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7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7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0">
                <a:solidFill>
                  <a:srgbClr val="FFFFFF"/>
                </a:solidFill>
                <a:latin typeface="Arial"/>
                <a:cs typeface="Arial"/>
              </a:rPr>
              <a:t>slide,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95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3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return</a:t>
            </a:r>
            <a:endParaRPr sz="2400">
              <a:latin typeface="Arial"/>
              <a:cs typeface="Arial"/>
            </a:endParaRPr>
          </a:p>
          <a:p>
            <a:pPr marL="241300" marR="617220" indent="-228600">
              <a:lnSpc>
                <a:spcPct val="120000"/>
              </a:lnSpc>
              <a:spcBef>
                <a:spcPts val="975"/>
              </a:spcBef>
              <a:buSzPct val="125000"/>
              <a:buChar char="•"/>
              <a:tabLst>
                <a:tab pos="241300" algn="l"/>
              </a:tabLst>
            </a:pPr>
            <a:r>
              <a:rPr dirty="0" sz="2400" spc="-29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&lt;h1&gt;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tag</a:t>
            </a:r>
            <a:r>
              <a:rPr dirty="0" sz="24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Arial"/>
                <a:cs typeface="Arial"/>
              </a:rPr>
              <a:t>displays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Hello,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World!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630"/>
              </a:spcBef>
              <a:buSzPct val="125000"/>
              <a:buChar char="•"/>
              <a:tabLst>
                <a:tab pos="240665" algn="l"/>
              </a:tabLst>
            </a:pPr>
            <a:r>
              <a:rPr dirty="0" sz="2400" spc="-29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Arial"/>
                <a:cs typeface="Arial"/>
              </a:rPr>
              <a:t>&lt;p&gt;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tags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 are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displaying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below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text.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4867275"/>
              <a:ext cx="983240" cy="199072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70703" y="0"/>
            <a:ext cx="535546" cy="6286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3950" y="4019550"/>
            <a:ext cx="190500" cy="19050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866775" y="0"/>
            <a:ext cx="1412240" cy="2705100"/>
            <a:chOff x="866775" y="0"/>
            <a:chExt cx="1412240" cy="270510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2975" y="0"/>
              <a:ext cx="1335881" cy="27051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6775" y="9525"/>
              <a:ext cx="238125" cy="108585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9525"/>
            <a:ext cx="523875" cy="46672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1975" y="5476875"/>
            <a:ext cx="514350" cy="13811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95325" y="9525"/>
            <a:ext cx="390525" cy="173355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0" y="4886325"/>
            <a:ext cx="447675" cy="19526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0075" y="9525"/>
            <a:ext cx="809625" cy="401955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23975" y="4867275"/>
              <a:ext cx="974153" cy="19907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4825" y="9525"/>
              <a:ext cx="838200" cy="68389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23950" y="4019550"/>
            <a:ext cx="190500" cy="19050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866775" y="0"/>
            <a:ext cx="1412240" cy="2705100"/>
            <a:chOff x="866775" y="0"/>
            <a:chExt cx="1412240" cy="2705100"/>
          </a:xfrm>
        </p:grpSpPr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42975" y="0"/>
              <a:ext cx="1335881" cy="27051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6775" y="9525"/>
              <a:ext cx="238125" cy="1085850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0" y="9525"/>
            <a:ext cx="523875" cy="466725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61975" y="5476875"/>
            <a:ext cx="514350" cy="138112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95325" y="9525"/>
            <a:ext cx="390525" cy="173355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0" y="4886325"/>
            <a:ext cx="447675" cy="195262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00075" y="9525"/>
            <a:ext cx="809625" cy="4019550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23975" y="4867275"/>
              <a:ext cx="974153" cy="19907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4825" y="9525"/>
              <a:ext cx="838200" cy="68389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xfrm>
            <a:off x="6664706" y="1373568"/>
            <a:ext cx="3352165" cy="2074545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60"/>
              </a:spcBef>
            </a:pPr>
            <a:r>
              <a:rPr dirty="0" sz="4800" spc="-285"/>
              <a:t>COMMON </a:t>
            </a:r>
            <a:r>
              <a:rPr dirty="0" sz="4800" spc="-655"/>
              <a:t>MISTAKES</a:t>
            </a:r>
            <a:r>
              <a:rPr dirty="0" sz="4800" spc="25"/>
              <a:t> </a:t>
            </a:r>
            <a:r>
              <a:rPr dirty="0" sz="4800" spc="-550"/>
              <a:t>TO </a:t>
            </a:r>
            <a:r>
              <a:rPr dirty="0" sz="4800" spc="-425"/>
              <a:t>AVOID</a:t>
            </a:r>
            <a:endParaRPr sz="4800"/>
          </a:p>
        </p:txBody>
      </p:sp>
      <p:grpSp>
        <p:nvGrpSpPr>
          <p:cNvPr id="40" name="object 40"/>
          <p:cNvGrpSpPr/>
          <p:nvPr/>
        </p:nvGrpSpPr>
        <p:grpSpPr>
          <a:xfrm>
            <a:off x="685800" y="733361"/>
            <a:ext cx="5510530" cy="5453380"/>
            <a:chOff x="685800" y="733361"/>
            <a:chExt cx="5510530" cy="5453380"/>
          </a:xfrm>
        </p:grpSpPr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85800" y="733361"/>
              <a:ext cx="5510276" cy="545312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00100" y="809624"/>
              <a:ext cx="5286375" cy="5229225"/>
            </a:xfrm>
            <a:custGeom>
              <a:avLst/>
              <a:gdLst/>
              <a:ahLst/>
              <a:cxnLst/>
              <a:rect l="l" t="t" r="r" b="b"/>
              <a:pathLst>
                <a:path w="5286375" h="5229225">
                  <a:moveTo>
                    <a:pt x="5286375" y="0"/>
                  </a:moveTo>
                  <a:lnTo>
                    <a:pt x="387908" y="0"/>
                  </a:lnTo>
                  <a:lnTo>
                    <a:pt x="339250" y="3021"/>
                  </a:lnTo>
                  <a:lnTo>
                    <a:pt x="292395" y="11843"/>
                  </a:lnTo>
                  <a:lnTo>
                    <a:pt x="247707" y="26102"/>
                  </a:lnTo>
                  <a:lnTo>
                    <a:pt x="205550" y="45435"/>
                  </a:lnTo>
                  <a:lnTo>
                    <a:pt x="166288" y="69480"/>
                  </a:lnTo>
                  <a:lnTo>
                    <a:pt x="130283" y="97872"/>
                  </a:lnTo>
                  <a:lnTo>
                    <a:pt x="97899" y="130249"/>
                  </a:lnTo>
                  <a:lnTo>
                    <a:pt x="69500" y="166248"/>
                  </a:lnTo>
                  <a:lnTo>
                    <a:pt x="45449" y="205505"/>
                  </a:lnTo>
                  <a:lnTo>
                    <a:pt x="26110" y="247658"/>
                  </a:lnTo>
                  <a:lnTo>
                    <a:pt x="11847" y="292343"/>
                  </a:lnTo>
                  <a:lnTo>
                    <a:pt x="3022" y="339197"/>
                  </a:lnTo>
                  <a:lnTo>
                    <a:pt x="0" y="387858"/>
                  </a:lnTo>
                  <a:lnTo>
                    <a:pt x="0" y="5229225"/>
                  </a:lnTo>
                  <a:lnTo>
                    <a:pt x="4898517" y="5229225"/>
                  </a:lnTo>
                  <a:lnTo>
                    <a:pt x="4947177" y="5226202"/>
                  </a:lnTo>
                  <a:lnTo>
                    <a:pt x="4994031" y="5217377"/>
                  </a:lnTo>
                  <a:lnTo>
                    <a:pt x="5038716" y="5203114"/>
                  </a:lnTo>
                  <a:lnTo>
                    <a:pt x="5080869" y="5183775"/>
                  </a:lnTo>
                  <a:lnTo>
                    <a:pt x="5120126" y="5159724"/>
                  </a:lnTo>
                  <a:lnTo>
                    <a:pt x="5156125" y="5131325"/>
                  </a:lnTo>
                  <a:lnTo>
                    <a:pt x="5188502" y="5098941"/>
                  </a:lnTo>
                  <a:lnTo>
                    <a:pt x="5216894" y="5062936"/>
                  </a:lnTo>
                  <a:lnTo>
                    <a:pt x="5240939" y="5023674"/>
                  </a:lnTo>
                  <a:lnTo>
                    <a:pt x="5260272" y="4981517"/>
                  </a:lnTo>
                  <a:lnTo>
                    <a:pt x="5274531" y="4936829"/>
                  </a:lnTo>
                  <a:lnTo>
                    <a:pt x="5283353" y="4889974"/>
                  </a:lnTo>
                  <a:lnTo>
                    <a:pt x="5286375" y="4841316"/>
                  </a:lnTo>
                  <a:lnTo>
                    <a:pt x="528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00100" y="809624"/>
              <a:ext cx="5286375" cy="5229225"/>
            </a:xfrm>
            <a:custGeom>
              <a:avLst/>
              <a:gdLst/>
              <a:ahLst/>
              <a:cxnLst/>
              <a:rect l="l" t="t" r="r" b="b"/>
              <a:pathLst>
                <a:path w="5286375" h="5229225">
                  <a:moveTo>
                    <a:pt x="387908" y="0"/>
                  </a:moveTo>
                  <a:lnTo>
                    <a:pt x="5286375" y="0"/>
                  </a:lnTo>
                  <a:lnTo>
                    <a:pt x="5286375" y="4841316"/>
                  </a:lnTo>
                  <a:lnTo>
                    <a:pt x="5283353" y="4889974"/>
                  </a:lnTo>
                  <a:lnTo>
                    <a:pt x="5274531" y="4936829"/>
                  </a:lnTo>
                  <a:lnTo>
                    <a:pt x="5260272" y="4981517"/>
                  </a:lnTo>
                  <a:lnTo>
                    <a:pt x="5240939" y="5023674"/>
                  </a:lnTo>
                  <a:lnTo>
                    <a:pt x="5216894" y="5062936"/>
                  </a:lnTo>
                  <a:lnTo>
                    <a:pt x="5188502" y="5098941"/>
                  </a:lnTo>
                  <a:lnTo>
                    <a:pt x="5156125" y="5131325"/>
                  </a:lnTo>
                  <a:lnTo>
                    <a:pt x="5120126" y="5159724"/>
                  </a:lnTo>
                  <a:lnTo>
                    <a:pt x="5080869" y="5183775"/>
                  </a:lnTo>
                  <a:lnTo>
                    <a:pt x="5038716" y="5203114"/>
                  </a:lnTo>
                  <a:lnTo>
                    <a:pt x="4994031" y="5217377"/>
                  </a:lnTo>
                  <a:lnTo>
                    <a:pt x="4947177" y="5226202"/>
                  </a:lnTo>
                  <a:lnTo>
                    <a:pt x="4898517" y="5229225"/>
                  </a:lnTo>
                  <a:lnTo>
                    <a:pt x="0" y="5229225"/>
                  </a:lnTo>
                  <a:lnTo>
                    <a:pt x="0" y="387858"/>
                  </a:lnTo>
                  <a:lnTo>
                    <a:pt x="3022" y="339197"/>
                  </a:lnTo>
                  <a:lnTo>
                    <a:pt x="11847" y="292343"/>
                  </a:lnTo>
                  <a:lnTo>
                    <a:pt x="26110" y="247658"/>
                  </a:lnTo>
                  <a:lnTo>
                    <a:pt x="45449" y="205505"/>
                  </a:lnTo>
                  <a:lnTo>
                    <a:pt x="69500" y="166248"/>
                  </a:lnTo>
                  <a:lnTo>
                    <a:pt x="97899" y="130249"/>
                  </a:lnTo>
                  <a:lnTo>
                    <a:pt x="130283" y="97872"/>
                  </a:lnTo>
                  <a:lnTo>
                    <a:pt x="166288" y="69480"/>
                  </a:lnTo>
                  <a:lnTo>
                    <a:pt x="205550" y="45435"/>
                  </a:lnTo>
                  <a:lnTo>
                    <a:pt x="247707" y="26102"/>
                  </a:lnTo>
                  <a:lnTo>
                    <a:pt x="292395" y="11843"/>
                  </a:lnTo>
                  <a:lnTo>
                    <a:pt x="339250" y="3021"/>
                  </a:lnTo>
                  <a:lnTo>
                    <a:pt x="387908" y="0"/>
                  </a:lnTo>
                  <a:close/>
                </a:path>
              </a:pathLst>
            </a:custGeom>
            <a:ln w="19050">
              <a:solidFill>
                <a:srgbClr val="3C9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3341751" y="1318260"/>
            <a:ext cx="0" cy="4214495"/>
          </a:xfrm>
          <a:custGeom>
            <a:avLst/>
            <a:gdLst/>
            <a:ahLst/>
            <a:cxnLst/>
            <a:rect l="l" t="t" r="r" b="b"/>
            <a:pathLst>
              <a:path w="0" h="4214495">
                <a:moveTo>
                  <a:pt x="0" y="0"/>
                </a:moveTo>
                <a:lnTo>
                  <a:pt x="0" y="421398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24343" y="1318260"/>
            <a:ext cx="0" cy="4214495"/>
          </a:xfrm>
          <a:custGeom>
            <a:avLst/>
            <a:gdLst/>
            <a:ahLst/>
            <a:cxnLst/>
            <a:rect l="l" t="t" r="r" b="b"/>
            <a:pathLst>
              <a:path w="0" h="4214495">
                <a:moveTo>
                  <a:pt x="0" y="0"/>
                </a:moveTo>
                <a:lnTo>
                  <a:pt x="0" y="421398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759958" y="1318260"/>
            <a:ext cx="0" cy="4214495"/>
          </a:xfrm>
          <a:custGeom>
            <a:avLst/>
            <a:gdLst/>
            <a:ahLst/>
            <a:cxnLst/>
            <a:rect l="l" t="t" r="r" b="b"/>
            <a:pathLst>
              <a:path w="0" h="4214495">
                <a:moveTo>
                  <a:pt x="0" y="0"/>
                </a:moveTo>
                <a:lnTo>
                  <a:pt x="0" y="421398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1124343" y="1318260"/>
          <a:ext cx="4712335" cy="4199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540"/>
                <a:gridCol w="2474594"/>
              </a:tblGrid>
              <a:tr h="509270">
                <a:tc>
                  <a:txBody>
                    <a:bodyPr/>
                    <a:lstStyle/>
                    <a:p>
                      <a:pPr algn="ctr" marL="571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Mistake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29FCC"/>
                    </a:solidFill>
                  </a:tcPr>
                </a:tc>
                <a:tc>
                  <a:txBody>
                    <a:bodyPr/>
                    <a:lstStyle/>
                    <a:p>
                      <a:pPr marL="82676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Explanation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29FCC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marL="69215" marR="250825">
                        <a:lnSpc>
                          <a:spcPts val="1650"/>
                        </a:lnSpc>
                        <a:spcBef>
                          <a:spcPts val="320"/>
                        </a:spcBef>
                      </a:pPr>
                      <a:r>
                        <a:rPr dirty="0" sz="1400" spc="-75">
                          <a:latin typeface="Arial"/>
                          <a:cs typeface="Arial"/>
                        </a:rPr>
                        <a:t>Missing/Incorrect</a:t>
                      </a:r>
                      <a:r>
                        <a:rPr dirty="0" sz="14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Doctype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Declaration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FEB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10489">
                        <a:lnSpc>
                          <a:spcPct val="98300"/>
                        </a:lnSpc>
                        <a:spcBef>
                          <a:spcPts val="270"/>
                        </a:spcBef>
                      </a:pPr>
                      <a:r>
                        <a:rPr dirty="0" sz="1400" spc="-65">
                          <a:latin typeface="Arial"/>
                          <a:cs typeface="Arial"/>
                        </a:rPr>
                        <a:t>Failing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declare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85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right </a:t>
                      </a:r>
                      <a:r>
                        <a:rPr dirty="0" sz="1400" spc="-100">
                          <a:latin typeface="Arial"/>
                          <a:cs typeface="Arial"/>
                        </a:rPr>
                        <a:t>version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5"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lead</a:t>
                      </a:r>
                      <a:r>
                        <a:rPr dirty="0" sz="14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inconsistent 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rendering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different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95">
                          <a:latin typeface="Arial"/>
                          <a:cs typeface="Arial"/>
                        </a:rPr>
                        <a:t>browsers.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FEB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65">
                          <a:latin typeface="Arial"/>
                          <a:cs typeface="Arial"/>
                        </a:rPr>
                        <a:t>Forgetting</a:t>
                      </a:r>
                      <a:r>
                        <a:rPr dirty="0" sz="14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14">
                          <a:latin typeface="Arial"/>
                          <a:cs typeface="Arial"/>
                        </a:rPr>
                        <a:t>Close</a:t>
                      </a:r>
                      <a:r>
                        <a:rPr dirty="0" sz="14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Tags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27000" marR="172720">
                        <a:lnSpc>
                          <a:spcPct val="99900"/>
                        </a:lnSpc>
                        <a:spcBef>
                          <a:spcPts val="250"/>
                        </a:spcBef>
                      </a:pPr>
                      <a:r>
                        <a:rPr dirty="0" sz="1400" spc="-125">
                          <a:latin typeface="Arial"/>
                          <a:cs typeface="Arial"/>
                        </a:rPr>
                        <a:t>Unclosed</a:t>
                      </a:r>
                      <a:r>
                        <a:rPr dirty="0" sz="14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tags</a:t>
                      </a:r>
                      <a:r>
                        <a:rPr dirty="0" sz="1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20"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14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60">
                          <a:latin typeface="Arial"/>
                          <a:cs typeface="Arial"/>
                        </a:rPr>
                        <a:t>cause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some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properties 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8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formatted 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correctly,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14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75">
                          <a:latin typeface="Arial"/>
                          <a:cs typeface="Arial"/>
                        </a:rPr>
                        <a:t>some</a:t>
                      </a:r>
                      <a:r>
                        <a:rPr dirty="0" sz="14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55">
                          <a:latin typeface="Arial"/>
                          <a:cs typeface="Arial"/>
                        </a:rPr>
                        <a:t>cases,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load.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6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marL="69215">
                        <a:lnSpc>
                          <a:spcPts val="1664"/>
                        </a:lnSpc>
                        <a:spcBef>
                          <a:spcPts val="260"/>
                        </a:spcBef>
                      </a:pPr>
                      <a:r>
                        <a:rPr dirty="0" sz="1400" spc="-4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putting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“Alt”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tags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ts val="1664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images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302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FEB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16839">
                        <a:lnSpc>
                          <a:spcPts val="1650"/>
                        </a:lnSpc>
                        <a:spcBef>
                          <a:spcPts val="340"/>
                        </a:spcBef>
                      </a:pPr>
                      <a:r>
                        <a:rPr dirty="0" sz="1400" spc="-140">
                          <a:latin typeface="Arial"/>
                          <a:cs typeface="Arial"/>
                        </a:rPr>
                        <a:t>Removing</a:t>
                      </a:r>
                      <a:r>
                        <a:rPr dirty="0" sz="14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8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“alt”</a:t>
                      </a:r>
                      <a:r>
                        <a:rPr dirty="0" sz="14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75">
                          <a:latin typeface="Arial"/>
                          <a:cs typeface="Arial"/>
                        </a:rPr>
                        <a:t>input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image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tags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90">
                          <a:latin typeface="Arial"/>
                          <a:cs typeface="Arial"/>
                        </a:rPr>
                        <a:t>hinders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accessibility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visually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impaired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users.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FEB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4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2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14">
                          <a:latin typeface="Arial"/>
                          <a:cs typeface="Arial"/>
                        </a:rPr>
                        <a:t>semantic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elements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231775">
                        <a:lnSpc>
                          <a:spcPct val="99900"/>
                        </a:lnSpc>
                        <a:spcBef>
                          <a:spcPts val="275"/>
                        </a:spcBef>
                      </a:pPr>
                      <a:r>
                        <a:rPr dirty="0" sz="1400" spc="-114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75">
                          <a:latin typeface="Arial"/>
                          <a:cs typeface="Arial"/>
                        </a:rPr>
                        <a:t>generic</a:t>
                      </a:r>
                      <a:r>
                        <a:rPr dirty="0" sz="14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&lt;div&gt;</a:t>
                      </a:r>
                      <a:r>
                        <a:rPr dirty="0" sz="14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14">
                          <a:latin typeface="Arial"/>
                          <a:cs typeface="Arial"/>
                        </a:rPr>
                        <a:t>elements </a:t>
                      </a:r>
                      <a:r>
                        <a:rPr dirty="0" sz="1400" spc="-105">
                          <a:latin typeface="Arial"/>
                          <a:cs typeface="Arial"/>
                        </a:rPr>
                        <a:t>excessively</a:t>
                      </a:r>
                      <a:r>
                        <a:rPr dirty="0" sz="14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55">
                          <a:latin typeface="Arial"/>
                          <a:cs typeface="Arial"/>
                        </a:rPr>
                        <a:t>makes</a:t>
                      </a:r>
                      <a:r>
                        <a:rPr dirty="0" sz="14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more difficult</a:t>
                      </a:r>
                      <a:r>
                        <a:rPr dirty="0" sz="14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label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format </a:t>
                      </a:r>
                      <a:r>
                        <a:rPr dirty="0" sz="1400" spc="-120">
                          <a:latin typeface="Arial"/>
                          <a:cs typeface="Arial"/>
                        </a:rPr>
                        <a:t>elements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web</a:t>
                      </a:r>
                      <a:r>
                        <a:rPr dirty="0" sz="14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page.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6"/>
                    </a:solidFill>
                  </a:tcPr>
                </a:tc>
              </a:tr>
            </a:tbl>
          </a:graphicData>
        </a:graphic>
      </p:graphicFrame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0"/>
              <a:t>KEY</a:t>
            </a:r>
            <a:r>
              <a:rPr dirty="0" spc="-70"/>
              <a:t> </a:t>
            </a:r>
            <a:r>
              <a:rPr dirty="0" spc="-490"/>
              <a:t>TAKEAWAYS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9175" y="2371661"/>
            <a:ext cx="4929505" cy="3376929"/>
            <a:chOff x="1019175" y="2371661"/>
            <a:chExt cx="4929505" cy="3376929"/>
          </a:xfrm>
        </p:grpSpPr>
        <p:pic>
          <p:nvPicPr>
            <p:cNvPr id="4" name="object 4" descr="11 HTML facts worth knowi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75" y="2371661"/>
              <a:ext cx="4929251" cy="3376676"/>
            </a:xfrm>
            <a:prstGeom prst="rect">
              <a:avLst/>
            </a:prstGeom>
          </p:spPr>
        </p:pic>
        <p:pic>
          <p:nvPicPr>
            <p:cNvPr id="5" name="object 5" descr="11 HTML facts worth knowi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0" y="2457449"/>
              <a:ext cx="4686300" cy="3133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3475" y="2446908"/>
              <a:ext cx="4705350" cy="3154045"/>
            </a:xfrm>
            <a:custGeom>
              <a:avLst/>
              <a:gdLst/>
              <a:ahLst/>
              <a:cxnLst/>
              <a:rect l="l" t="t" r="r" b="b"/>
              <a:pathLst>
                <a:path w="4705350" h="3154045">
                  <a:moveTo>
                    <a:pt x="194818" y="0"/>
                  </a:moveTo>
                  <a:lnTo>
                    <a:pt x="194818" y="1015"/>
                  </a:lnTo>
                  <a:lnTo>
                    <a:pt x="4705350" y="1015"/>
                  </a:lnTo>
                  <a:lnTo>
                    <a:pt x="4705350" y="2969005"/>
                  </a:lnTo>
                  <a:lnTo>
                    <a:pt x="4690872" y="3040634"/>
                  </a:lnTo>
                  <a:lnTo>
                    <a:pt x="4651121" y="3099562"/>
                  </a:lnTo>
                  <a:lnTo>
                    <a:pt x="4592193" y="3139313"/>
                  </a:lnTo>
                  <a:lnTo>
                    <a:pt x="4520565" y="3153791"/>
                  </a:lnTo>
                  <a:lnTo>
                    <a:pt x="0" y="3153791"/>
                  </a:lnTo>
                  <a:lnTo>
                    <a:pt x="0" y="185800"/>
                  </a:lnTo>
                  <a:lnTo>
                    <a:pt x="3708" y="148970"/>
                  </a:lnTo>
                  <a:lnTo>
                    <a:pt x="31610" y="82676"/>
                  </a:lnTo>
                  <a:lnTo>
                    <a:pt x="81661" y="32638"/>
                  </a:lnTo>
                  <a:lnTo>
                    <a:pt x="147955" y="4699"/>
                  </a:lnTo>
                  <a:lnTo>
                    <a:pt x="194818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20484" y="2241613"/>
            <a:ext cx="4556760" cy="2973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39395" marR="100965" indent="-227329">
              <a:lnSpc>
                <a:spcPct val="112700"/>
              </a:lnSpc>
              <a:spcBef>
                <a:spcPts val="95"/>
              </a:spcBef>
              <a:buSzPct val="122500"/>
              <a:buChar char="•"/>
              <a:tabLst>
                <a:tab pos="240665" algn="l"/>
              </a:tabLst>
            </a:pPr>
            <a:r>
              <a:rPr dirty="0" sz="2000" spc="-32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2000" spc="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25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creating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anything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wide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web</a:t>
            </a:r>
            <a:endParaRPr sz="2000">
              <a:latin typeface="Arial"/>
              <a:cs typeface="Arial"/>
            </a:endParaRPr>
          </a:p>
          <a:p>
            <a:pPr algn="just" marL="239395" marR="5080" indent="-227329">
              <a:lnSpc>
                <a:spcPct val="109500"/>
              </a:lnSpc>
              <a:spcBef>
                <a:spcPts val="975"/>
              </a:spcBef>
              <a:buSzPct val="122500"/>
              <a:buChar char="•"/>
              <a:tabLst>
                <a:tab pos="240665" algn="l"/>
              </a:tabLst>
            </a:pPr>
            <a:r>
              <a:rPr dirty="0" sz="2000" spc="-32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2000" spc="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70">
                <a:solidFill>
                  <a:srgbClr val="FFFFFF"/>
                </a:solidFill>
                <a:latin typeface="Arial"/>
                <a:cs typeface="Arial"/>
              </a:rPr>
              <a:t>links</a:t>
            </a:r>
            <a:r>
              <a:rPr dirty="0" sz="20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70">
                <a:solidFill>
                  <a:srgbClr val="FFFFFF"/>
                </a:solidFill>
                <a:latin typeface="Arial"/>
                <a:cs typeface="Arial"/>
              </a:rPr>
              <a:t>elements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together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provides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dirty="0" sz="20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35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websites.</a:t>
            </a:r>
            <a:endParaRPr sz="2000">
              <a:latin typeface="Arial"/>
              <a:cs typeface="Arial"/>
            </a:endParaRPr>
          </a:p>
          <a:p>
            <a:pPr algn="just" marL="239395" marR="362585" indent="-227329">
              <a:lnSpc>
                <a:spcPct val="109500"/>
              </a:lnSpc>
              <a:spcBef>
                <a:spcPts val="1050"/>
              </a:spcBef>
              <a:buSzPct val="122500"/>
              <a:buChar char="•"/>
              <a:tabLst>
                <a:tab pos="240665" algn="l"/>
              </a:tabLst>
            </a:pP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modern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"/>
                <a:cs typeface="Arial"/>
              </a:rPr>
              <a:t>engines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65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2000" spc="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2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dirty="0" sz="2000" spc="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hierarchy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webpage.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40">
                <a:solidFill>
                  <a:srgbClr val="FFFFFF"/>
                </a:solidFill>
                <a:latin typeface="Arial"/>
                <a:cs typeface="Arial"/>
              </a:rPr>
              <a:t>HTML,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browsers</a:t>
            </a:r>
            <a:endParaRPr sz="2000">
              <a:latin typeface="Arial"/>
              <a:cs typeface="Arial"/>
            </a:endParaRPr>
          </a:p>
          <a:p>
            <a:pPr algn="just" marL="240665">
              <a:lnSpc>
                <a:spcPct val="100000"/>
              </a:lnSpc>
              <a:spcBef>
                <a:spcPts val="229"/>
              </a:spcBef>
            </a:pP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couldn’t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crawl 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index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pages</a:t>
            </a:r>
            <a:r>
              <a:rPr dirty="0" sz="20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properly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pc="-200"/>
              <a:t>Luke</a:t>
            </a:r>
            <a:r>
              <a:rPr dirty="0" spc="-35"/>
              <a:t> </a:t>
            </a:r>
            <a:r>
              <a:rPr dirty="0" spc="-105"/>
              <a:t>Sprecher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2025-11-07T13:30:59Z</dcterms:created>
  <dcterms:modified xsi:type="dcterms:W3CDTF">2025-11-07T13:30:59Z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LastSaved">
    <vt:filetime>2025-11-07T00:00:00Z</vt:filetime>
  </property>
</Properties>
</file>