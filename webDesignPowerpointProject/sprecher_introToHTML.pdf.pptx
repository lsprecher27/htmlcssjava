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9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08102" y="5943600"/>
            <a:ext cx="6239309" cy="365125"/>
          </a:xfrm>
        </p:spPr>
        <p:txBody>
          <a:bodyPr/>
          <a:lstStyle/>
          <a:p>
            <a:r>
              <a:rPr lang="en-US" dirty="0"/>
              <a:t>Luke </a:t>
            </a:r>
            <a:r>
              <a:rPr lang="en-US" dirty="0" err="1"/>
              <a:t>sprecher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8577" y="5930107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Luke </a:t>
            </a:r>
            <a:r>
              <a:rPr lang="en-US" err="1"/>
              <a:t>sprecher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makery.ch/library/html-css/part1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EF3596-DF97-4605-88C4-E1D6634C1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CF5AE-1525-458C-805A-277612287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75184BC4-A6A5-41B7-9463-51287F8C9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47CE477-1D61-4F65-A819-156F30645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168D70C-C0A3-4080-935A-4C7D34D1F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4BFE52DB-6074-4322-91A0-BA19AC65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5482A31-6AFE-4781-B3EC-26CF5A34C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A2F5607A-50CD-401B-AA0D-375828CC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E2065C15-E60F-4857-877B-1F8235F9A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10515003-9E36-4383-852B-C467122CD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6809E31-CFB3-4460-A5B9-9B5D20C4D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A4181E6F-BF0F-40DF-B995-3E6E1D016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21ECCFEF-1B38-4DA5-BE12-61FC2805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F7B7547-12E7-424A-B8A2-836C862B0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ED73F691-9932-4DF3-9C00-5FB99E59B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FC1D4D7C-DDA0-4901-B134-3A4F498A4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D667447-7CCB-4723-98DC-3B6243BB5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3205CA6A-75CC-441A-A983-276CC7243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97C5F7AB-65D8-48CC-ABE1-4E6FCC596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9D2DE9CF-1915-4458-8504-23EE23C70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875539DD-1581-4269-9977-2AD4EC61A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4F35F98A-A81D-4A28-B3EF-AA4CF8552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2F4C3514-1560-4004-BACC-31CAF69A9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59492B1-819E-4D36-8684-DE6269CD9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6D37E5FF-AC11-4600-A1A7-5A79E8987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71BEA79E-EC3A-49E3-BF83-FD38146C2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28003CD-17C2-4EF6-9422-BCC831E6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1116C327-1D14-460A-A6E2-78987B149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E5E6917-BBB5-46D6-A9EF-108A2A621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15AE5B56-D24B-45D6-B264-EFD2BCFDE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3F5649DF-34D2-42EB-AEA0-DB38895E7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908BA6A2-58E6-4EF1-B21C-C129AD44A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FF764234-DCC8-409D-9589-60BA5BEBD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672EDBF1-5836-45EE-ACAA-026F06E61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32EDE749-EE15-49ED-A703-EB5B8296FC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ECAFA4A1-3EFA-41E8-8124-5BD1A7FD33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5FC977BF-3314-4C13-949F-F7005E49AF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FFE293AA-EA29-496D-B73C-DD63AA5CE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555B5CF2-EB1C-4BAF-831C-F7563748F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2">
              <a:extLst>
                <a:ext uri="{FF2B5EF4-FFF2-40B4-BE49-F238E27FC236}">
                  <a16:creationId xmlns:a16="http://schemas.microsoft.com/office/drawing/2014/main" id="{6C35CEC0-2B0B-4B96-A85B-170DFCE73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4479BA0E-1F0F-44CC-B967-41E59E556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0EA2BA01-0538-42E6-94BA-FC5ADB2DE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03F7E47C-F027-4901-A6C8-390843EE3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28E1E440-AFF9-4333-83FE-EE96FF139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303A70BD-0FF2-440D-BE34-940EEC17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E9E7E43D-CEBC-4F5A-9849-06150C6F5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9">
              <a:extLst>
                <a:ext uri="{FF2B5EF4-FFF2-40B4-BE49-F238E27FC236}">
                  <a16:creationId xmlns:a16="http://schemas.microsoft.com/office/drawing/2014/main" id="{DB41515B-EB52-4FB6-9ED6-AFDF7598F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325F3C87-07A2-4F10-AFAB-254EC057F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8A65FB10-C150-41C0-AE33-92EA10D2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87206993-1AA8-4179-B1AE-7486E1FA0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85A838BB-56EF-47B9-B613-2EC774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E7A25950-F58D-4098-9824-C8518F323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3CD280DC-A611-4DAC-BC0C-070097BBE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88921E44-6C5B-4CD9-8347-604B039BA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311649F5-0FA2-4ED1-9C27-5EFF64007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F94683F6-FEDA-4D28-9E9F-557699D6A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68" name="Picture 2">
            <a:extLst>
              <a:ext uri="{FF2B5EF4-FFF2-40B4-BE49-F238E27FC236}">
                <a16:creationId xmlns:a16="http://schemas.microsoft.com/office/drawing/2014/main" id="{EE045C80-5D28-4F64-9892-322DA1D23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8B0AFD-61CF-4FB7-AEC3-0F38C99D2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5" y="1113282"/>
            <a:ext cx="5201086" cy="239668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 to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4B943-4306-41B6-89B8-8CDE393AB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5231513" cy="2052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Luke sprecher</a:t>
            </a:r>
          </a:p>
        </p:txBody>
      </p:sp>
      <p:sp useBgFill="1">
        <p:nvSpPr>
          <p:cNvPr id="70" name="Round Diagonal Corner Rectangle 6">
            <a:extLst>
              <a:ext uri="{FF2B5EF4-FFF2-40B4-BE49-F238E27FC236}">
                <a16:creationId xmlns:a16="http://schemas.microsoft.com/office/drawing/2014/main" id="{0F4BA0F2-1035-4F3D-B3FE-C551450E4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945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TML 5 Logo&#10;">
            <a:extLst>
              <a:ext uri="{FF2B5EF4-FFF2-40B4-BE49-F238E27FC236}">
                <a16:creationId xmlns:a16="http://schemas.microsoft.com/office/drawing/2014/main" id="{17BB3D1B-FE36-40D9-B0A2-184DA0EAF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40" y="1180026"/>
            <a:ext cx="3178638" cy="449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19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35A4-8D9F-4C27-BAFC-602CEC75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HTml</a:t>
            </a:r>
            <a:r>
              <a:rPr lang="en-US" dirty="0"/>
              <a:t>?</a:t>
            </a:r>
          </a:p>
        </p:txBody>
      </p:sp>
      <p:pic>
        <p:nvPicPr>
          <p:cNvPr id="4" name="Picture 3" descr="A computer screen with HTML running on it.">
            <a:extLst>
              <a:ext uri="{FF2B5EF4-FFF2-40B4-BE49-F238E27FC236}">
                <a16:creationId xmlns:a16="http://schemas.microsoft.com/office/drawing/2014/main" id="{BD897C79-F15B-3590-86F0-ECC58F7B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2998542"/>
            <a:ext cx="4689234" cy="205153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EED2-711E-4514-AB79-A029781D8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en-US" sz="2200"/>
              <a:t>HTML (Hypertext Markup Language) is a coding language that gives a website its basic structure.</a:t>
            </a:r>
          </a:p>
          <a:p>
            <a:r>
              <a:rPr lang="en-US" sz="2200"/>
              <a:t>It uses tags to define content such as headings, paragraphs, and images.</a:t>
            </a:r>
          </a:p>
          <a:p>
            <a:r>
              <a:rPr lang="en-US" sz="2200"/>
              <a:t>HTML was invented by Tim Berners-Lee in 1989 and is a fundamental part of the World Wide Web.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434A4-4304-42DE-AC17-25D4363CE44B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Luke Sprecher</a:t>
            </a:r>
          </a:p>
        </p:txBody>
      </p:sp>
    </p:spTree>
    <p:extLst>
      <p:ext uri="{BB962C8B-B14F-4D97-AF65-F5344CB8AC3E}">
        <p14:creationId xmlns:p14="http://schemas.microsoft.com/office/powerpoint/2010/main" val="273600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C280F-1096-49E1-8769-63430C20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How HTML works</a:t>
            </a:r>
          </a:p>
        </p:txBody>
      </p:sp>
      <p:sp useBgFill="1">
        <p:nvSpPr>
          <p:cNvPr id="56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nchor tag in HTML">
            <a:extLst>
              <a:ext uri="{FF2B5EF4-FFF2-40B4-BE49-F238E27FC236}">
                <a16:creationId xmlns:a16="http://schemas.microsoft.com/office/drawing/2014/main" id="{E2E62441-5F68-47C5-8046-6A1021DE0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8988" y="2662221"/>
            <a:ext cx="6112382" cy="15280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1DC0-3E19-4B31-A83F-936203BFF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</a:rPr>
              <a:t>Tags:</a:t>
            </a:r>
            <a:r>
              <a:rPr lang="en-US" sz="1300">
                <a:solidFill>
                  <a:srgbClr val="FFFFFF"/>
                </a:solidFill>
              </a:rPr>
              <a:t> HTML uses “markup” to annotate text, images and other content for display in a web browser. They are enclosed in tags, which is the element name surrounded in angle brackets (ex. &lt;p&gt; for a paragraph).</a:t>
            </a:r>
          </a:p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</a:rPr>
              <a:t>Structure: </a:t>
            </a:r>
            <a:r>
              <a:rPr lang="en-US" sz="1300">
                <a:solidFill>
                  <a:srgbClr val="FFFFFF"/>
                </a:solidFill>
              </a:rPr>
              <a:t>The tags tell the browser how to interpret and present the content. For example, the &lt;h1&gt; tag means a main heading, while &lt;img&gt; embeds an image.</a:t>
            </a:r>
          </a:p>
          <a:p>
            <a:pPr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</a:rPr>
              <a:t>Elements:</a:t>
            </a:r>
            <a:r>
              <a:rPr lang="en-US" sz="1300">
                <a:solidFill>
                  <a:srgbClr val="FFFFFF"/>
                </a:solidFill>
              </a:rPr>
              <a:t> HTML elements are the building blocks of a web page and are often nested within each other to create structured order. 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9EBCE2-99BE-465D-B80E-ECB895853622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Luke Sprecher</a:t>
            </a:r>
          </a:p>
        </p:txBody>
      </p:sp>
    </p:spTree>
    <p:extLst>
      <p:ext uri="{BB962C8B-B14F-4D97-AF65-F5344CB8AC3E}">
        <p14:creationId xmlns:p14="http://schemas.microsoft.com/office/powerpoint/2010/main" val="1604096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9682-DE8D-487E-84B2-D7ED5719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Visual example</a:t>
            </a:r>
          </a:p>
        </p:txBody>
      </p:sp>
      <p:pic>
        <p:nvPicPr>
          <p:cNvPr id="5" name="Picture 4" descr="HTML code for a webpage displaying: &#10;Hello, World!&#10;This is a sample HTML document&#10;&#10;Have a great day!">
            <a:extLst>
              <a:ext uri="{FF2B5EF4-FFF2-40B4-BE49-F238E27FC236}">
                <a16:creationId xmlns:a16="http://schemas.microsoft.com/office/drawing/2014/main" id="{C5940D61-B78C-49D3-8BFC-DFC0B9C827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792"/>
          <a:stretch>
            <a:fillRect/>
          </a:stretch>
        </p:blipFill>
        <p:spPr>
          <a:xfrm>
            <a:off x="1141411" y="2960167"/>
            <a:ext cx="4689234" cy="212828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F0F34-C6B7-4F70-9306-462A8D534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en-US" dirty="0"/>
              <a:t>This is the most basic example of HTML code. </a:t>
            </a:r>
          </a:p>
          <a:p>
            <a:r>
              <a:rPr lang="en-US" dirty="0"/>
              <a:t>It includes its starting structure (&lt;!DOCTYPE html&gt;, &lt;head&gt;, and &lt;body&gt; tags.)</a:t>
            </a:r>
          </a:p>
          <a:p>
            <a:r>
              <a:rPr lang="en-US" dirty="0"/>
              <a:t>Defines how the webpage is structured.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D89F77-CF72-4057-9312-FA19E5D88BBB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Luke Sprecher</a:t>
            </a:r>
          </a:p>
        </p:txBody>
      </p:sp>
    </p:spTree>
    <p:extLst>
      <p:ext uri="{BB962C8B-B14F-4D97-AF65-F5344CB8AC3E}">
        <p14:creationId xmlns:p14="http://schemas.microsoft.com/office/powerpoint/2010/main" val="15603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87D317-F1F4-45C1-8275-24121164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Visual example (continued)</a:t>
            </a:r>
          </a:p>
        </p:txBody>
      </p:sp>
      <p:sp useBgFill="1">
        <p:nvSpPr>
          <p:cNvPr id="56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Webpage displaying the previous code">
            <a:extLst>
              <a:ext uri="{FF2B5EF4-FFF2-40B4-BE49-F238E27FC236}">
                <a16:creationId xmlns:a16="http://schemas.microsoft.com/office/drawing/2014/main" id="{5ABE5EC3-4810-4A89-990E-7DB9A6F7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935" y="1147145"/>
            <a:ext cx="4049689" cy="456777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4819CD-1E82-208A-7DBB-5501ECFBA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When we run the code from the previous slide, we get this in return</a:t>
            </a:r>
          </a:p>
          <a:p>
            <a:r>
              <a:rPr lang="en-US" dirty="0">
                <a:solidFill>
                  <a:srgbClr val="FFFFFF"/>
                </a:solidFill>
              </a:rPr>
              <a:t>The &lt;h1&gt; tag displays Hello, World! </a:t>
            </a:r>
          </a:p>
          <a:p>
            <a:r>
              <a:rPr lang="en-US" dirty="0">
                <a:solidFill>
                  <a:srgbClr val="FFFFFF"/>
                </a:solidFill>
              </a:rPr>
              <a:t>The &lt;p&gt; tags are displaying the below text.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3A9B81-9409-4543-9529-9C42C5D02562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Luke Sprecher</a:t>
            </a:r>
          </a:p>
        </p:txBody>
      </p:sp>
    </p:spTree>
    <p:extLst>
      <p:ext uri="{BB962C8B-B14F-4D97-AF65-F5344CB8AC3E}">
        <p14:creationId xmlns:p14="http://schemas.microsoft.com/office/powerpoint/2010/main" val="2128448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CD614432-46FD-4B63-8194-64F233F94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7D43E06-E0E9-45FB-9DD8-4513BF040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BC31D834-B127-4A66-A0A9-2956DB076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AEB45F0E-3639-41ED-99CC-CCA38D61D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5302B214-0D24-40CA-BFB4-CF38694B0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BB18DCBD-D74A-40C8-B325-B49FC52BA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02CFFDAE-C576-45A9-8D6F-3FF8F2EAF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382510FF-8736-4655-A749-972F90D8B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302B8B45-64D1-4E5D-BBCC-AB578EC64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2">
              <a:extLst>
                <a:ext uri="{FF2B5EF4-FFF2-40B4-BE49-F238E27FC236}">
                  <a16:creationId xmlns:a16="http://schemas.microsoft.com/office/drawing/2014/main" id="{C63FCB23-1A4C-4B0E-991C-1E1AD0475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49B472C6-502A-452F-857D-3007E7519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1887487B-9617-48BB-BC6E-2E095DDB7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8CCC40D8-3574-4709-B597-0C9EB8AC9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C2DE696-C0F1-4470-AA20-1B185DFE0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3044BF69-E88A-4FE6-A7C7-E6222C391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87F8C68F-552A-4831-87FC-D45485F78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439F4E03-58CC-4C01-B28D-4B4B5A6CF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638B9EF8-62E2-409B-A243-493F3008A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BF251EFD-0032-41FD-A617-D4F06953E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3DF212F4-57CD-4E08-BC1F-CA81C516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6C8506A9-98D5-4346-BA53-7BE67D7D0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7D36D3DC-4B56-4591-B3CB-20F2A8E08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19C17C52-3CF4-4CB1-93B0-D71E838B5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F723AE18-264F-4AA7-88D7-83570E326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4CCF1D1F-3F13-4891-8139-ADA1CD8DD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28">
              <a:extLst>
                <a:ext uri="{FF2B5EF4-FFF2-40B4-BE49-F238E27FC236}">
                  <a16:creationId xmlns:a16="http://schemas.microsoft.com/office/drawing/2014/main" id="{78BFA10C-74DF-41B4-8E08-50CC82B7A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DFCDD40B-D4BD-4091-9EE8-869FF64F0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C795EC66-071B-4C40-934A-C3AB55649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4DFDE558-A234-4BD5-A26C-99870882F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0A007A33-7683-48EB-9714-ADEDDC1DB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Rectangle 33">
              <a:extLst>
                <a:ext uri="{FF2B5EF4-FFF2-40B4-BE49-F238E27FC236}">
                  <a16:creationId xmlns:a16="http://schemas.microsoft.com/office/drawing/2014/main" id="{EC290698-D471-4505-B43E-87EEFB36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3" name="Freeform 34">
              <a:extLst>
                <a:ext uri="{FF2B5EF4-FFF2-40B4-BE49-F238E27FC236}">
                  <a16:creationId xmlns:a16="http://schemas.microsoft.com/office/drawing/2014/main" id="{8B75059B-DDB3-4BDF-9AE6-D9A4A5ED4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35">
              <a:extLst>
                <a:ext uri="{FF2B5EF4-FFF2-40B4-BE49-F238E27FC236}">
                  <a16:creationId xmlns:a16="http://schemas.microsoft.com/office/drawing/2014/main" id="{81B849DB-E967-4042-B061-AD30AB053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36">
              <a:extLst>
                <a:ext uri="{FF2B5EF4-FFF2-40B4-BE49-F238E27FC236}">
                  <a16:creationId xmlns:a16="http://schemas.microsoft.com/office/drawing/2014/main" id="{E8E1D58B-C2EE-4DAC-BC7D-ABC55F5C3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37">
              <a:extLst>
                <a:ext uri="{FF2B5EF4-FFF2-40B4-BE49-F238E27FC236}">
                  <a16:creationId xmlns:a16="http://schemas.microsoft.com/office/drawing/2014/main" id="{7D867EE2-CC64-459F-B1FD-5770B0C85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38">
              <a:extLst>
                <a:ext uri="{FF2B5EF4-FFF2-40B4-BE49-F238E27FC236}">
                  <a16:creationId xmlns:a16="http://schemas.microsoft.com/office/drawing/2014/main" id="{96DBF1BF-0F1A-4646-B493-2C210BF91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39">
              <a:extLst>
                <a:ext uri="{FF2B5EF4-FFF2-40B4-BE49-F238E27FC236}">
                  <a16:creationId xmlns:a16="http://schemas.microsoft.com/office/drawing/2014/main" id="{C14EBC57-DC59-4BAB-BFEF-5E2A17202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0">
              <a:extLst>
                <a:ext uri="{FF2B5EF4-FFF2-40B4-BE49-F238E27FC236}">
                  <a16:creationId xmlns:a16="http://schemas.microsoft.com/office/drawing/2014/main" id="{05A2794A-7B60-4B1F-B43C-C08F51C66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1">
              <a:extLst>
                <a:ext uri="{FF2B5EF4-FFF2-40B4-BE49-F238E27FC236}">
                  <a16:creationId xmlns:a16="http://schemas.microsoft.com/office/drawing/2014/main" id="{3394CF13-32C3-4BE9-AA6D-DF8F82534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2">
              <a:extLst>
                <a:ext uri="{FF2B5EF4-FFF2-40B4-BE49-F238E27FC236}">
                  <a16:creationId xmlns:a16="http://schemas.microsoft.com/office/drawing/2014/main" id="{2E4C0BA3-1B29-4D8C-9E6E-CDAFF7C95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3">
              <a:extLst>
                <a:ext uri="{FF2B5EF4-FFF2-40B4-BE49-F238E27FC236}">
                  <a16:creationId xmlns:a16="http://schemas.microsoft.com/office/drawing/2014/main" id="{A8623A34-11DB-4490-AF5D-26513AD50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44">
              <a:extLst>
                <a:ext uri="{FF2B5EF4-FFF2-40B4-BE49-F238E27FC236}">
                  <a16:creationId xmlns:a16="http://schemas.microsoft.com/office/drawing/2014/main" id="{AA01C5BF-55D0-406B-9447-9E6323AB4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Rectangle 45">
              <a:extLst>
                <a:ext uri="{FF2B5EF4-FFF2-40B4-BE49-F238E27FC236}">
                  <a16:creationId xmlns:a16="http://schemas.microsoft.com/office/drawing/2014/main" id="{592233FB-D11D-40BB-B825-D67497779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5" name="Freeform 46">
              <a:extLst>
                <a:ext uri="{FF2B5EF4-FFF2-40B4-BE49-F238E27FC236}">
                  <a16:creationId xmlns:a16="http://schemas.microsoft.com/office/drawing/2014/main" id="{3FD97EB1-F159-4021-B498-18ED5AD95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47">
              <a:extLst>
                <a:ext uri="{FF2B5EF4-FFF2-40B4-BE49-F238E27FC236}">
                  <a16:creationId xmlns:a16="http://schemas.microsoft.com/office/drawing/2014/main" id="{663683DC-3029-493D-AC2E-B6475D4CA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48">
              <a:extLst>
                <a:ext uri="{FF2B5EF4-FFF2-40B4-BE49-F238E27FC236}">
                  <a16:creationId xmlns:a16="http://schemas.microsoft.com/office/drawing/2014/main" id="{B8D533F2-4DD0-47E4-B6F4-FE1DC5257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49">
              <a:extLst>
                <a:ext uri="{FF2B5EF4-FFF2-40B4-BE49-F238E27FC236}">
                  <a16:creationId xmlns:a16="http://schemas.microsoft.com/office/drawing/2014/main" id="{ECD96B65-7D14-4D80-A430-882ADD9B3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0">
              <a:extLst>
                <a:ext uri="{FF2B5EF4-FFF2-40B4-BE49-F238E27FC236}">
                  <a16:creationId xmlns:a16="http://schemas.microsoft.com/office/drawing/2014/main" id="{7CF501C3-E940-4890-B417-54DB8EB62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1">
              <a:extLst>
                <a:ext uri="{FF2B5EF4-FFF2-40B4-BE49-F238E27FC236}">
                  <a16:creationId xmlns:a16="http://schemas.microsoft.com/office/drawing/2014/main" id="{DDDA19B3-D841-4B23-A0DA-8CDD36BFF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2">
              <a:extLst>
                <a:ext uri="{FF2B5EF4-FFF2-40B4-BE49-F238E27FC236}">
                  <a16:creationId xmlns:a16="http://schemas.microsoft.com/office/drawing/2014/main" id="{1AE5B2C0-5A75-4732-9DC8-EC0562E33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BBDD5730-79D7-4521-BC7B-26C613C92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3" name="Freeform 54">
              <a:extLst>
                <a:ext uri="{FF2B5EF4-FFF2-40B4-BE49-F238E27FC236}">
                  <a16:creationId xmlns:a16="http://schemas.microsoft.com/office/drawing/2014/main" id="{9A5C68A3-07A7-49FF-B29A-04E350105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4" name="Freeform 55">
              <a:extLst>
                <a:ext uri="{FF2B5EF4-FFF2-40B4-BE49-F238E27FC236}">
                  <a16:creationId xmlns:a16="http://schemas.microsoft.com/office/drawing/2014/main" id="{E615EBAF-955F-4294-99EB-922C7A400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5" name="Freeform 56">
              <a:extLst>
                <a:ext uri="{FF2B5EF4-FFF2-40B4-BE49-F238E27FC236}">
                  <a16:creationId xmlns:a16="http://schemas.microsoft.com/office/drawing/2014/main" id="{B1592F83-EF32-4C0A-993A-2B6AC8186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6" name="Freeform 57">
              <a:extLst>
                <a:ext uri="{FF2B5EF4-FFF2-40B4-BE49-F238E27FC236}">
                  <a16:creationId xmlns:a16="http://schemas.microsoft.com/office/drawing/2014/main" id="{F1C4D2B1-55D6-4040-AE4D-F7C5D326F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7" name="Freeform 58">
              <a:extLst>
                <a:ext uri="{FF2B5EF4-FFF2-40B4-BE49-F238E27FC236}">
                  <a16:creationId xmlns:a16="http://schemas.microsoft.com/office/drawing/2014/main" id="{DC7DBDFF-6BF3-41F0-A002-44B913CDC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29" name="Picture 2">
            <a:extLst>
              <a:ext uri="{FF2B5EF4-FFF2-40B4-BE49-F238E27FC236}">
                <a16:creationId xmlns:a16="http://schemas.microsoft.com/office/drawing/2014/main" id="{0B0BC616-AF73-491B-AACB-A8C3A548B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5775F7-8742-43B2-AE4E-0CD4418A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5" y="1113282"/>
            <a:ext cx="4966332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Common mistakes to avoid</a:t>
            </a:r>
          </a:p>
        </p:txBody>
      </p:sp>
      <p:sp useBgFill="1">
        <p:nvSpPr>
          <p:cNvPr id="131" name="Round Diagonal Corner Rectangle 6">
            <a:extLst>
              <a:ext uri="{FF2B5EF4-FFF2-40B4-BE49-F238E27FC236}">
                <a16:creationId xmlns:a16="http://schemas.microsoft.com/office/drawing/2014/main" id="{7C914900-562F-42A1-9E63-CD117E0CA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C10CD0A-3C06-4ECE-8EE2-BFD8C637C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602119"/>
              </p:ext>
            </p:extLst>
          </p:nvPr>
        </p:nvGraphicFramePr>
        <p:xfrm>
          <a:off x="1124347" y="1324606"/>
          <a:ext cx="4635584" cy="42012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17351">
                  <a:extLst>
                    <a:ext uri="{9D8B030D-6E8A-4147-A177-3AD203B41FA5}">
                      <a16:colId xmlns:a16="http://schemas.microsoft.com/office/drawing/2014/main" val="3368108881"/>
                    </a:ext>
                  </a:extLst>
                </a:gridCol>
                <a:gridCol w="2418233">
                  <a:extLst>
                    <a:ext uri="{9D8B030D-6E8A-4147-A177-3AD203B41FA5}">
                      <a16:colId xmlns:a16="http://schemas.microsoft.com/office/drawing/2014/main" val="3244092318"/>
                    </a:ext>
                  </a:extLst>
                </a:gridCol>
              </a:tblGrid>
              <a:tr h="50966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Mistake 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68874" marR="68874" marT="34437" marB="34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Explanation</a:t>
                      </a:r>
                    </a:p>
                  </a:txBody>
                  <a:tcPr marL="68874" marR="68874" marT="34437" marB="34437"/>
                </a:tc>
                <a:extLst>
                  <a:ext uri="{0D108BD9-81ED-4DB2-BD59-A6C34878D82A}">
                    <a16:rowId xmlns:a16="http://schemas.microsoft.com/office/drawing/2014/main" val="1942472427"/>
                  </a:ext>
                </a:extLst>
              </a:tr>
              <a:tr h="922908">
                <a:tc>
                  <a:txBody>
                    <a:bodyPr/>
                    <a:lstStyle/>
                    <a:p>
                      <a:r>
                        <a:rPr lang="en-US" sz="1400"/>
                        <a:t>Missing/Incorrect Doctype Declaration</a:t>
                      </a:r>
                    </a:p>
                  </a:txBody>
                  <a:tcPr marL="68874" marR="68874" marT="34437" marB="3443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Failing to declare the right version can lead to inconsistent rendering in different browsers.</a:t>
                      </a:r>
                    </a:p>
                  </a:txBody>
                  <a:tcPr marL="68874" marR="68874" marT="34437" marB="34437"/>
                </a:tc>
                <a:extLst>
                  <a:ext uri="{0D108BD9-81ED-4DB2-BD59-A6C34878D82A}">
                    <a16:rowId xmlns:a16="http://schemas.microsoft.com/office/drawing/2014/main" val="2500236086"/>
                  </a:ext>
                </a:extLst>
              </a:tr>
              <a:tr h="922908">
                <a:tc>
                  <a:txBody>
                    <a:bodyPr/>
                    <a:lstStyle/>
                    <a:p>
                      <a:r>
                        <a:rPr lang="en-US" sz="1400"/>
                        <a:t>Forgetting to Close Tags</a:t>
                      </a:r>
                    </a:p>
                  </a:txBody>
                  <a:tcPr marL="68874" marR="68874" marT="34437" marB="3443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Unclosed tags can cause some properties to not be formatted correctly, or in some cases, not load.</a:t>
                      </a:r>
                    </a:p>
                  </a:txBody>
                  <a:tcPr marL="68874" marR="68874" marT="34437" marB="34437"/>
                </a:tc>
                <a:extLst>
                  <a:ext uri="{0D108BD9-81ED-4DB2-BD59-A6C34878D82A}">
                    <a16:rowId xmlns:a16="http://schemas.microsoft.com/office/drawing/2014/main" val="3370336900"/>
                  </a:ext>
                </a:extLst>
              </a:tr>
              <a:tr h="922908">
                <a:tc>
                  <a:txBody>
                    <a:bodyPr/>
                    <a:lstStyle/>
                    <a:p>
                      <a:r>
                        <a:rPr lang="en-US" sz="1400"/>
                        <a:t>Not putting “Alt” tags on images</a:t>
                      </a:r>
                    </a:p>
                  </a:txBody>
                  <a:tcPr marL="68874" marR="68874" marT="34437" marB="34437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Removing the “alt” input on image tags hinders accessibility for visually impaired users.</a:t>
                      </a:r>
                    </a:p>
                  </a:txBody>
                  <a:tcPr marL="68874" marR="68874" marT="34437" marB="34437"/>
                </a:tc>
                <a:extLst>
                  <a:ext uri="{0D108BD9-81ED-4DB2-BD59-A6C34878D82A}">
                    <a16:rowId xmlns:a16="http://schemas.microsoft.com/office/drawing/2014/main" val="3506951889"/>
                  </a:ext>
                </a:extLst>
              </a:tr>
              <a:tr h="922908">
                <a:tc>
                  <a:txBody>
                    <a:bodyPr/>
                    <a:lstStyle/>
                    <a:p>
                      <a:r>
                        <a:rPr lang="en-US" sz="1400" dirty="0"/>
                        <a:t>Not using semantic elements</a:t>
                      </a:r>
                    </a:p>
                  </a:txBody>
                  <a:tcPr marL="68874" marR="68874" marT="34437" marB="3443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Using generic &lt;div&gt; elements excessively makes it more difficult to label and format elements of your web page.</a:t>
                      </a:r>
                    </a:p>
                  </a:txBody>
                  <a:tcPr marL="68874" marR="68874" marT="34437" marB="34437"/>
                </a:tc>
                <a:extLst>
                  <a:ext uri="{0D108BD9-81ED-4DB2-BD59-A6C34878D82A}">
                    <a16:rowId xmlns:a16="http://schemas.microsoft.com/office/drawing/2014/main" val="3784630083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228281E5-7A6F-4C77-A0A0-8B1C2E22429D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Luke Sprecher</a:t>
            </a:r>
          </a:p>
        </p:txBody>
      </p:sp>
    </p:spTree>
    <p:extLst>
      <p:ext uri="{BB962C8B-B14F-4D97-AF65-F5344CB8AC3E}">
        <p14:creationId xmlns:p14="http://schemas.microsoft.com/office/powerpoint/2010/main" val="3373778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6576-59AD-4FC0-8868-210353C5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pic>
        <p:nvPicPr>
          <p:cNvPr id="1026" name="Picture 2" descr="11 HTML facts worth knowing">
            <a:extLst>
              <a:ext uri="{FF2B5EF4-FFF2-40B4-BE49-F238E27FC236}">
                <a16:creationId xmlns:a16="http://schemas.microsoft.com/office/drawing/2014/main" id="{230FC17B-5CFC-488E-8866-4ED835D53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411" y="2459280"/>
            <a:ext cx="4689234" cy="313006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6ECE-9AD6-4359-813C-C929154C1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/>
              <a:t>HTML is the base for creating anything on the world wide web</a:t>
            </a:r>
          </a:p>
          <a:p>
            <a:pPr>
              <a:lnSpc>
                <a:spcPct val="110000"/>
              </a:lnSpc>
            </a:pPr>
            <a:r>
              <a:rPr lang="en-US" sz="2000"/>
              <a:t>HTML links elements together and provides basic structure for websites.</a:t>
            </a:r>
          </a:p>
          <a:p>
            <a:pPr>
              <a:lnSpc>
                <a:spcPct val="110000"/>
              </a:lnSpc>
            </a:pPr>
            <a:r>
              <a:rPr lang="en-US" sz="2000"/>
              <a:t>All modern search engines use HTML to understand content and hierarchy of a webpage. Without HTML, browsers couldn’t crawl and index pages properly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6B641-EEAF-4AED-8BC9-FF4C15487F68}"/>
              </a:ext>
            </a:extLst>
          </p:cNvPr>
          <p:cNvSpPr txBox="1"/>
          <p:nvPr/>
        </p:nvSpPr>
        <p:spPr>
          <a:xfrm>
            <a:off x="7205472" y="5870448"/>
            <a:ext cx="455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Luke Sprecher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99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22B822E463C641A764C709DACA1446" ma:contentTypeVersion="4" ma:contentTypeDescription="Create a new document." ma:contentTypeScope="" ma:versionID="f41995aae4b955f320d4bb03eff82e10">
  <xsd:schema xmlns:xsd="http://www.w3.org/2001/XMLSchema" xmlns:xs="http://www.w3.org/2001/XMLSchema" xmlns:p="http://schemas.microsoft.com/office/2006/metadata/properties" xmlns:ns3="363b1c59-860c-4a49-bfb0-c87eb14b552e" targetNamespace="http://schemas.microsoft.com/office/2006/metadata/properties" ma:root="true" ma:fieldsID="18fb9a7c0f1ad279924ba13ff8da2c79" ns3:_="">
    <xsd:import namespace="363b1c59-860c-4a49-bfb0-c87eb14b55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b1c59-860c-4a49-bfb0-c87eb14b55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04E62F-55AA-42A1-AB35-58D56397B2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A12720-46EB-495B-95FC-FE4372EE64F4}">
  <ds:schemaRefs>
    <ds:schemaRef ds:uri="363b1c59-860c-4a49-bfb0-c87eb14b55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AF47B7-FCC0-4335-9593-50AE19823276}">
  <ds:schemaRefs>
    <ds:schemaRef ds:uri="363b1c59-860c-4a49-bfb0-c87eb14b55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{81B9E448-FA75-4583-AD6A-B3FFFF33D2FB}TF6d5feb1e-e145-43f1-b745-cb4b54c5ee975d365c52-ce22229b0e48</Template>
  <TotalTime>1459</TotalTime>
  <Words>410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Intro to html</vt:lpstr>
      <vt:lpstr>What is HTml?</vt:lpstr>
      <vt:lpstr>How HTML works</vt:lpstr>
      <vt:lpstr>Visual example</vt:lpstr>
      <vt:lpstr>Visual example (continued)</vt:lpstr>
      <vt:lpstr>Common mistakes to avoid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html</dc:title>
  <dc:creator>Sprecher, Luke</dc:creator>
  <cp:lastModifiedBy>Sprecher, Luke</cp:lastModifiedBy>
  <cp:revision>15</cp:revision>
  <dcterms:created xsi:type="dcterms:W3CDTF">2025-11-06T13:06:05Z</dcterms:created>
  <dcterms:modified xsi:type="dcterms:W3CDTF">2025-11-07T13:25:12Z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0x010100FD22B822E463C641A764C709DACA1446</vt:lpwstr>
  </property>
</Properties>
</file>